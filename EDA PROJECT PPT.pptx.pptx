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7273" y="9111005"/>
            <a:ext cx="4838699" cy="100964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4778" y="3819207"/>
            <a:ext cx="10134865" cy="47342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167273" y="9111005"/>
            <a:ext cx="4838699" cy="10096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4852" y="223827"/>
            <a:ext cx="16838294" cy="2361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42406" y="3235420"/>
            <a:ext cx="10919460" cy="5972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67273" y="9463306"/>
            <a:ext cx="403225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5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81" y="271024"/>
            <a:ext cx="18286730" cy="10016490"/>
            <a:chOff x="1781" y="271024"/>
            <a:chExt cx="18286730" cy="100164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273" y="9111004"/>
              <a:ext cx="4838699" cy="10096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1" y="271024"/>
              <a:ext cx="18286218" cy="1001597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967371" y="5786270"/>
            <a:ext cx="82467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i="1" dirty="0">
                <a:solidFill>
                  <a:srgbClr val="FF0000"/>
                </a:solidFill>
                <a:latin typeface="Calibri"/>
                <a:cs typeface="Calibri"/>
              </a:rPr>
              <a:t>IPL</a:t>
            </a:r>
            <a:r>
              <a:rPr sz="4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800" b="1" i="1" dirty="0">
                <a:solidFill>
                  <a:srgbClr val="FF0000"/>
                </a:solidFill>
                <a:latin typeface="Calibri"/>
                <a:cs typeface="Calibri"/>
              </a:rPr>
              <a:t>Auction</a:t>
            </a:r>
            <a:r>
              <a:rPr sz="4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800" b="1" i="1" dirty="0">
                <a:solidFill>
                  <a:srgbClr val="FF0000"/>
                </a:solidFill>
                <a:latin typeface="Calibri"/>
                <a:cs typeface="Calibri"/>
              </a:rPr>
              <a:t>Analysis</a:t>
            </a:r>
            <a:r>
              <a:rPr sz="48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800" b="1" i="1" spc="-30" dirty="0">
                <a:solidFill>
                  <a:srgbClr val="FF0000"/>
                </a:solidFill>
                <a:latin typeface="Calibri"/>
                <a:cs typeface="Calibri"/>
              </a:rPr>
              <a:t>(2025-</a:t>
            </a:r>
            <a:r>
              <a:rPr sz="4800" b="1" i="1" spc="-10" dirty="0">
                <a:solidFill>
                  <a:srgbClr val="FF0000"/>
                </a:solidFill>
                <a:latin typeface="Calibri"/>
                <a:cs typeface="Calibri"/>
              </a:rPr>
              <a:t>2026)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58094" y="7159625"/>
            <a:ext cx="320992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Presented</a:t>
            </a:r>
            <a:r>
              <a:rPr sz="30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3000" spc="-25" dirty="0">
                <a:latin typeface="Times New Roman"/>
                <a:cs typeface="Times New Roman"/>
              </a:rPr>
              <a:t>:</a:t>
            </a:r>
            <a:endParaRPr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3000" dirty="0" err="1">
                <a:latin typeface="Times New Roman"/>
                <a:cs typeface="Times New Roman"/>
              </a:rPr>
              <a:t>J.Anudeep</a:t>
            </a:r>
            <a:r>
              <a:rPr lang="en-US" sz="3000" dirty="0">
                <a:latin typeface="Times New Roman"/>
                <a:cs typeface="Times New Roman"/>
              </a:rPr>
              <a:t> Kumar</a:t>
            </a:r>
            <a:endParaRPr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3000" dirty="0">
                <a:latin typeface="Times New Roman"/>
                <a:cs typeface="Times New Roman"/>
              </a:rPr>
              <a:t>Batch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</a:t>
            </a:r>
            <a:r>
              <a:rPr sz="3000" b="1">
                <a:latin typeface="Times New Roman"/>
                <a:cs typeface="Times New Roman"/>
              </a:rPr>
              <a:t>:</a:t>
            </a:r>
            <a:r>
              <a:rPr sz="3000" b="1" spc="-40">
                <a:latin typeface="Times New Roman"/>
                <a:cs typeface="Times New Roman"/>
              </a:rPr>
              <a:t> </a:t>
            </a:r>
            <a:r>
              <a:rPr sz="3000" spc="-25">
                <a:latin typeface="Times New Roman"/>
                <a:cs typeface="Times New Roman"/>
              </a:rPr>
              <a:t>4</a:t>
            </a:r>
            <a:r>
              <a:rPr lang="en-US" sz="3000" spc="-25">
                <a:latin typeface="Times New Roman"/>
                <a:cs typeface="Times New Roman"/>
              </a:rPr>
              <a:t>6</a:t>
            </a:r>
            <a:r>
              <a:rPr sz="3000" spc="-25">
                <a:latin typeface="Times New Roman"/>
                <a:cs typeface="Times New Roman"/>
              </a:rPr>
              <a:t>0</a:t>
            </a:r>
            <a:endParaRPr sz="3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900"/>
              </a:spcBef>
            </a:pPr>
            <a:r>
              <a:rPr sz="3000" dirty="0">
                <a:latin typeface="Times New Roman"/>
                <a:cs typeface="Times New Roman"/>
              </a:rPr>
              <a:t>Innomatics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Research </a:t>
            </a:r>
            <a:r>
              <a:rPr sz="3000" dirty="0">
                <a:latin typeface="Times New Roman"/>
                <a:cs typeface="Times New Roman"/>
              </a:rPr>
              <a:t>Labs,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Dilsuknagar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44599" y="963612"/>
            <a:ext cx="638238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 </a:t>
            </a:r>
            <a:r>
              <a:rPr spc="-10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549" y="2755144"/>
            <a:ext cx="133350" cy="1333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62062" y="2290197"/>
            <a:ext cx="10448925" cy="5159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4615">
              <a:lnSpc>
                <a:spcPct val="135600"/>
              </a:lnSpc>
              <a:spcBef>
                <a:spcPts val="95"/>
              </a:spcBef>
            </a:pPr>
            <a:r>
              <a:rPr sz="3550" dirty="0">
                <a:latin typeface="Times New Roman"/>
                <a:cs typeface="Times New Roman"/>
              </a:rPr>
              <a:t>IPL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auctions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are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performance-</a:t>
            </a:r>
            <a:r>
              <a:rPr sz="3550" dirty="0">
                <a:latin typeface="Times New Roman"/>
                <a:cs typeface="Times New Roman"/>
              </a:rPr>
              <a:t>driven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marketplaces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under </a:t>
            </a:r>
            <a:r>
              <a:rPr sz="3550" dirty="0">
                <a:latin typeface="Times New Roman"/>
                <a:cs typeface="Times New Roman"/>
              </a:rPr>
              <a:t>budget</a:t>
            </a:r>
            <a:r>
              <a:rPr sz="3550" spc="-3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constraints.</a:t>
            </a:r>
            <a:endParaRPr sz="3550">
              <a:latin typeface="Times New Roman"/>
              <a:cs typeface="Times New Roman"/>
            </a:endParaRPr>
          </a:p>
          <a:p>
            <a:pPr marL="12700" marR="697865">
              <a:lnSpc>
                <a:spcPts val="5780"/>
              </a:lnSpc>
              <a:spcBef>
                <a:spcPts val="440"/>
              </a:spcBef>
            </a:pPr>
            <a:r>
              <a:rPr sz="3550" dirty="0">
                <a:latin typeface="Times New Roman"/>
                <a:cs typeface="Times New Roman"/>
              </a:rPr>
              <a:t>Lack</a:t>
            </a:r>
            <a:r>
              <a:rPr sz="3550" spc="-3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of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data-</a:t>
            </a:r>
            <a:r>
              <a:rPr sz="3550" dirty="0">
                <a:latin typeface="Times New Roman"/>
                <a:cs typeface="Times New Roman"/>
              </a:rPr>
              <a:t>driven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insights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on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player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metrics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creates </a:t>
            </a:r>
            <a:r>
              <a:rPr sz="3550" dirty="0">
                <a:latin typeface="Times New Roman"/>
                <a:cs typeface="Times New Roman"/>
              </a:rPr>
              <a:t>uncertainty</a:t>
            </a:r>
            <a:r>
              <a:rPr sz="3550" spc="-4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for</a:t>
            </a:r>
            <a:r>
              <a:rPr sz="3550" spc="-3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franchises</a:t>
            </a:r>
            <a:r>
              <a:rPr sz="3550" spc="-3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and</a:t>
            </a:r>
            <a:r>
              <a:rPr sz="3550" spc="-2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players.</a:t>
            </a:r>
            <a:endParaRPr sz="3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3550" dirty="0">
                <a:latin typeface="Times New Roman"/>
                <a:cs typeface="Times New Roman"/>
              </a:rPr>
              <a:t>Understanding</a:t>
            </a:r>
            <a:r>
              <a:rPr sz="3550" spc="-3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key</a:t>
            </a:r>
            <a:r>
              <a:rPr sz="3550" spc="-3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performance</a:t>
            </a:r>
            <a:r>
              <a:rPr sz="3550" spc="-3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indicators</a:t>
            </a:r>
            <a:r>
              <a:rPr sz="3550" spc="-3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is</a:t>
            </a:r>
            <a:r>
              <a:rPr sz="3550" spc="-3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essential</a:t>
            </a:r>
            <a:r>
              <a:rPr sz="3550" spc="-35" dirty="0">
                <a:latin typeface="Times New Roman"/>
                <a:cs typeface="Times New Roman"/>
              </a:rPr>
              <a:t> </a:t>
            </a:r>
            <a:r>
              <a:rPr sz="3550" spc="-25" dirty="0">
                <a:latin typeface="Times New Roman"/>
                <a:cs typeface="Times New Roman"/>
              </a:rPr>
              <a:t>to:</a:t>
            </a:r>
            <a:endParaRPr sz="3550">
              <a:latin typeface="Times New Roman"/>
              <a:cs typeface="Times New Roman"/>
            </a:endParaRPr>
          </a:p>
          <a:p>
            <a:pPr marL="3898265" indent="-340995">
              <a:lnSpc>
                <a:spcPct val="100000"/>
              </a:lnSpc>
              <a:spcBef>
                <a:spcPts val="1515"/>
              </a:spcBef>
              <a:buSzPct val="97183"/>
              <a:buAutoNum type="arabicPeriod"/>
              <a:tabLst>
                <a:tab pos="3898265" algn="l"/>
              </a:tabLst>
            </a:pPr>
            <a:r>
              <a:rPr sz="3550" dirty="0">
                <a:latin typeface="Times New Roman"/>
                <a:cs typeface="Times New Roman"/>
              </a:rPr>
              <a:t>Optimize</a:t>
            </a:r>
            <a:r>
              <a:rPr sz="3550" spc="-5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franchise</a:t>
            </a:r>
            <a:r>
              <a:rPr sz="3550" spc="-3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decisions</a:t>
            </a:r>
            <a:endParaRPr sz="3550">
              <a:latin typeface="Times New Roman"/>
              <a:cs typeface="Times New Roman"/>
            </a:endParaRPr>
          </a:p>
          <a:p>
            <a:pPr marL="3898900" indent="-340995">
              <a:lnSpc>
                <a:spcPct val="100000"/>
              </a:lnSpc>
              <a:spcBef>
                <a:spcPts val="1515"/>
              </a:spcBef>
              <a:buSzPct val="97183"/>
              <a:buAutoNum type="arabicPeriod"/>
              <a:tabLst>
                <a:tab pos="3898900" algn="l"/>
              </a:tabLst>
            </a:pPr>
            <a:r>
              <a:rPr sz="3550" dirty="0">
                <a:latin typeface="Times New Roman"/>
                <a:cs typeface="Times New Roman"/>
              </a:rPr>
              <a:t>Enhance</a:t>
            </a:r>
            <a:r>
              <a:rPr sz="3550" spc="-4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player</a:t>
            </a:r>
            <a:r>
              <a:rPr sz="3550" spc="-2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marketability</a:t>
            </a:r>
            <a:endParaRPr sz="35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549" y="4221994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549" y="5688844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20420" y="3054475"/>
            <a:ext cx="5176298" cy="47864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154573" y="9450606"/>
            <a:ext cx="42862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2484" rIns="0" bIns="0" rtlCol="0">
            <a:spAutoFit/>
          </a:bodyPr>
          <a:lstStyle/>
          <a:p>
            <a:pPr marL="53213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45" dirty="0"/>
              <a:t> </a:t>
            </a:r>
            <a:r>
              <a:rPr spc="-10" dirty="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224" y="3621881"/>
            <a:ext cx="152400" cy="1523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76065" y="3304381"/>
            <a:ext cx="14930755" cy="3856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30"/>
              </a:lnSpc>
              <a:spcBef>
                <a:spcPts val="100"/>
              </a:spcBef>
            </a:pPr>
            <a:r>
              <a:rPr sz="4200" dirty="0">
                <a:latin typeface="Times New Roman"/>
                <a:cs typeface="Times New Roman"/>
              </a:rPr>
              <a:t>Selection trends and auction pricing </a:t>
            </a:r>
            <a:r>
              <a:rPr sz="4200" spc="-10" dirty="0">
                <a:latin typeface="Times New Roman"/>
                <a:cs typeface="Times New Roman"/>
              </a:rPr>
              <a:t>patterns</a:t>
            </a:r>
            <a:endParaRPr sz="4200">
              <a:latin typeface="Times New Roman"/>
              <a:cs typeface="Times New Roman"/>
            </a:endParaRPr>
          </a:p>
          <a:p>
            <a:pPr marL="12700" marR="5080">
              <a:lnSpc>
                <a:spcPts val="5030"/>
              </a:lnSpc>
              <a:spcBef>
                <a:spcPts val="165"/>
              </a:spcBef>
            </a:pPr>
            <a:r>
              <a:rPr sz="4200" dirty="0">
                <a:latin typeface="Times New Roman"/>
                <a:cs typeface="Times New Roman"/>
              </a:rPr>
              <a:t>Impact</a:t>
            </a:r>
            <a:r>
              <a:rPr sz="4200" spc="-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of</a:t>
            </a:r>
            <a:r>
              <a:rPr sz="4200" spc="-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performance</a:t>
            </a:r>
            <a:r>
              <a:rPr sz="4200" spc="-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metrics</a:t>
            </a:r>
            <a:r>
              <a:rPr sz="4200" spc="-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(batting avg,</a:t>
            </a:r>
            <a:r>
              <a:rPr sz="4200" spc="-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bowling</a:t>
            </a:r>
            <a:r>
              <a:rPr sz="4200" spc="-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avg,</a:t>
            </a:r>
            <a:r>
              <a:rPr sz="4200" spc="-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40+ </a:t>
            </a:r>
            <a:r>
              <a:rPr sz="4200" spc="-10" dirty="0">
                <a:latin typeface="Times New Roman"/>
                <a:cs typeface="Times New Roman"/>
              </a:rPr>
              <a:t>scores, </a:t>
            </a:r>
            <a:r>
              <a:rPr sz="4200" dirty="0">
                <a:latin typeface="Times New Roman"/>
                <a:cs typeface="Times New Roman"/>
              </a:rPr>
              <a:t>3-wicket </a:t>
            </a:r>
            <a:r>
              <a:rPr sz="4200" spc="-10" dirty="0">
                <a:latin typeface="Times New Roman"/>
                <a:cs typeface="Times New Roman"/>
              </a:rPr>
              <a:t>hauls)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ts val="4845"/>
              </a:lnSpc>
            </a:pPr>
            <a:r>
              <a:rPr sz="4200" dirty="0">
                <a:latin typeface="Times New Roman"/>
                <a:cs typeface="Times New Roman"/>
              </a:rPr>
              <a:t>Franchise</a:t>
            </a:r>
            <a:r>
              <a:rPr sz="4200" spc="-4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preferences</a:t>
            </a:r>
            <a:r>
              <a:rPr sz="4200" spc="-4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for</a:t>
            </a:r>
            <a:r>
              <a:rPr sz="4200" spc="-4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Indian</a:t>
            </a:r>
            <a:r>
              <a:rPr sz="4200" spc="-4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vs</a:t>
            </a:r>
            <a:r>
              <a:rPr sz="4200" spc="-4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Overseas</a:t>
            </a:r>
            <a:r>
              <a:rPr sz="4200" spc="-40" dirty="0">
                <a:latin typeface="Times New Roman"/>
                <a:cs typeface="Times New Roman"/>
              </a:rPr>
              <a:t> </a:t>
            </a:r>
            <a:r>
              <a:rPr sz="4200" spc="-10" dirty="0">
                <a:latin typeface="Times New Roman"/>
                <a:cs typeface="Times New Roman"/>
              </a:rPr>
              <a:t>players</a:t>
            </a:r>
            <a:endParaRPr sz="4200">
              <a:latin typeface="Times New Roman"/>
              <a:cs typeface="Times New Roman"/>
            </a:endParaRPr>
          </a:p>
          <a:p>
            <a:pPr marL="12700" marR="114300" indent="133350">
              <a:lnSpc>
                <a:spcPts val="5030"/>
              </a:lnSpc>
              <a:spcBef>
                <a:spcPts val="100"/>
              </a:spcBef>
            </a:pPr>
            <a:r>
              <a:rPr sz="4200" dirty="0">
                <a:latin typeface="Times New Roman"/>
                <a:cs typeface="Times New Roman"/>
              </a:rPr>
              <a:t>Determine</a:t>
            </a:r>
            <a:r>
              <a:rPr sz="4200" spc="-1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how</a:t>
            </a:r>
            <a:r>
              <a:rPr sz="4200" spc="-1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factors</a:t>
            </a:r>
            <a:r>
              <a:rPr sz="4200" spc="-1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like</a:t>
            </a:r>
            <a:r>
              <a:rPr sz="4200" spc="-1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player</a:t>
            </a:r>
            <a:r>
              <a:rPr sz="4200" spc="-1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performance,</a:t>
            </a:r>
            <a:r>
              <a:rPr sz="4200" spc="-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role,</a:t>
            </a:r>
            <a:r>
              <a:rPr sz="4200" spc="-1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and</a:t>
            </a:r>
            <a:r>
              <a:rPr sz="4200" spc="-10" dirty="0">
                <a:latin typeface="Times New Roman"/>
                <a:cs typeface="Times New Roman"/>
              </a:rPr>
              <a:t> nationality </a:t>
            </a:r>
            <a:r>
              <a:rPr sz="4200" dirty="0">
                <a:latin typeface="Times New Roman"/>
                <a:cs typeface="Times New Roman"/>
              </a:rPr>
              <a:t>influence auction selection and final </a:t>
            </a:r>
            <a:r>
              <a:rPr sz="4200" spc="-10" dirty="0">
                <a:latin typeface="Times New Roman"/>
                <a:cs typeface="Times New Roman"/>
              </a:rPr>
              <a:t>price.</a:t>
            </a:r>
            <a:endParaRPr sz="4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224" y="4260055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9224" y="5536405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224" y="6174581"/>
            <a:ext cx="152400" cy="1523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154573" y="9450606"/>
            <a:ext cx="42862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6198" rIns="0" bIns="0" rtlCol="0">
            <a:spAutoFit/>
          </a:bodyPr>
          <a:lstStyle/>
          <a:p>
            <a:pPr marL="532130">
              <a:lnSpc>
                <a:spcPct val="100000"/>
              </a:lnSpc>
              <a:spcBef>
                <a:spcPts val="100"/>
              </a:spcBef>
            </a:pPr>
            <a:r>
              <a:rPr sz="6800" spc="-10" dirty="0"/>
              <a:t>Objectives</a:t>
            </a:r>
            <a:endParaRPr sz="6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599" y="3183731"/>
            <a:ext cx="152400" cy="1523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78374" y="2891663"/>
            <a:ext cx="15771494" cy="490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0979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Times New Roman"/>
                <a:cs typeface="Times New Roman"/>
              </a:rPr>
              <a:t>Scrape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IPL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auction</a:t>
            </a:r>
            <a:r>
              <a:rPr sz="4000" spc="-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data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from</a:t>
            </a:r>
            <a:r>
              <a:rPr sz="4000" spc="-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relevant</a:t>
            </a:r>
            <a:r>
              <a:rPr sz="4000" spc="-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website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prepare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it</a:t>
            </a:r>
            <a:r>
              <a:rPr sz="4000" spc="-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for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analysis. </a:t>
            </a:r>
            <a:r>
              <a:rPr sz="4000" dirty="0">
                <a:latin typeface="Times New Roman"/>
                <a:cs typeface="Times New Roman"/>
              </a:rPr>
              <a:t>Perform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EDA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clean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dataset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(handle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missing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values,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convert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numeric columns).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latin typeface="Times New Roman"/>
                <a:cs typeface="Times New Roman"/>
              </a:rPr>
              <a:t>Analyze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auction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pricing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trends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player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selection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patterns.</a:t>
            </a:r>
            <a:endParaRPr sz="4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4000" dirty="0">
                <a:latin typeface="Times New Roman"/>
                <a:cs typeface="Times New Roman"/>
              </a:rPr>
              <a:t>Explore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performance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metrics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(batting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avg,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bowling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avg,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40+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scores,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3-wicket </a:t>
            </a:r>
            <a:r>
              <a:rPr sz="4000" dirty="0">
                <a:latin typeface="Times New Roman"/>
                <a:cs typeface="Times New Roman"/>
              </a:rPr>
              <a:t>hauls)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their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impact.</a:t>
            </a:r>
            <a:endParaRPr sz="4000">
              <a:latin typeface="Times New Roman"/>
              <a:cs typeface="Times New Roman"/>
            </a:endParaRPr>
          </a:p>
          <a:p>
            <a:pPr marL="12700" marR="1207770">
              <a:lnSpc>
                <a:spcPct val="100000"/>
              </a:lnSpc>
            </a:pPr>
            <a:r>
              <a:rPr sz="4000" dirty="0">
                <a:latin typeface="Times New Roman"/>
                <a:cs typeface="Times New Roman"/>
              </a:rPr>
              <a:t>Derive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actionable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insights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guide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franchises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help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players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improve </a:t>
            </a:r>
            <a:r>
              <a:rPr sz="4000" dirty="0">
                <a:latin typeface="Times New Roman"/>
                <a:cs typeface="Times New Roman"/>
              </a:rPr>
              <a:t>auction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value.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599" y="3793331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599" y="5012530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599" y="5622130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599" y="6841330"/>
            <a:ext cx="152400" cy="1523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154573" y="9450606"/>
            <a:ext cx="42862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9065" rIns="0" bIns="0" rtlCol="0">
            <a:spAutoFit/>
          </a:bodyPr>
          <a:lstStyle/>
          <a:p>
            <a:pPr marL="748665">
              <a:lnSpc>
                <a:spcPct val="100000"/>
              </a:lnSpc>
              <a:spcBef>
                <a:spcPts val="100"/>
              </a:spcBef>
            </a:pPr>
            <a:r>
              <a:rPr sz="7000" spc="-35" dirty="0"/>
              <a:t>Agenda</a:t>
            </a:r>
            <a:endParaRPr sz="7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49" y="3064341"/>
            <a:ext cx="133350" cy="1333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37394" y="2709598"/>
            <a:ext cx="12638405" cy="5857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3183890">
              <a:lnSpc>
                <a:spcPct val="100000"/>
              </a:lnSpc>
              <a:spcBef>
                <a:spcPts val="114"/>
              </a:spcBef>
            </a:pPr>
            <a:r>
              <a:rPr sz="4250" dirty="0">
                <a:latin typeface="Calibri"/>
                <a:cs typeface="Calibri"/>
              </a:rPr>
              <a:t>Scrape</a:t>
            </a:r>
            <a:r>
              <a:rPr sz="4250" spc="-150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relevant</a:t>
            </a:r>
            <a:r>
              <a:rPr sz="4250" spc="-140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websites</a:t>
            </a:r>
            <a:r>
              <a:rPr sz="4250" spc="-135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for</a:t>
            </a:r>
            <a:r>
              <a:rPr sz="4250" spc="-140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required</a:t>
            </a:r>
            <a:r>
              <a:rPr sz="4250" spc="-135" dirty="0">
                <a:latin typeface="Calibri"/>
                <a:cs typeface="Calibri"/>
              </a:rPr>
              <a:t> </a:t>
            </a:r>
            <a:r>
              <a:rPr sz="4250" spc="-10" dirty="0">
                <a:latin typeface="Calibri"/>
                <a:cs typeface="Calibri"/>
              </a:rPr>
              <a:t>data. </a:t>
            </a:r>
            <a:r>
              <a:rPr sz="4250" dirty="0">
                <a:latin typeface="Calibri"/>
                <a:cs typeface="Calibri"/>
              </a:rPr>
              <a:t>Clean</a:t>
            </a:r>
            <a:r>
              <a:rPr sz="4250" spc="-50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and</a:t>
            </a:r>
            <a:r>
              <a:rPr sz="4250" spc="-40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sort</a:t>
            </a:r>
            <a:r>
              <a:rPr sz="4250" spc="-40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scraped</a:t>
            </a:r>
            <a:r>
              <a:rPr sz="4250" spc="-40" dirty="0">
                <a:latin typeface="Calibri"/>
                <a:cs typeface="Calibri"/>
              </a:rPr>
              <a:t> </a:t>
            </a:r>
            <a:r>
              <a:rPr sz="4250" spc="-20" dirty="0">
                <a:latin typeface="Calibri"/>
                <a:cs typeface="Calibri"/>
              </a:rPr>
              <a:t>data</a:t>
            </a:r>
            <a:endParaRPr sz="42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4250" dirty="0">
                <a:latin typeface="Calibri"/>
                <a:cs typeface="Calibri"/>
              </a:rPr>
              <a:t>Normalize</a:t>
            </a:r>
            <a:r>
              <a:rPr sz="4250" spc="-75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cleaned</a:t>
            </a:r>
            <a:r>
              <a:rPr sz="4250" spc="-70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data</a:t>
            </a:r>
            <a:r>
              <a:rPr sz="4250" spc="-75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and</a:t>
            </a:r>
            <a:r>
              <a:rPr sz="4250" spc="-70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establish</a:t>
            </a:r>
            <a:r>
              <a:rPr sz="4250" spc="-75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the</a:t>
            </a:r>
            <a:r>
              <a:rPr sz="4250" spc="-70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desired</a:t>
            </a:r>
            <a:r>
              <a:rPr sz="4250" spc="-70" dirty="0">
                <a:latin typeface="Calibri"/>
                <a:cs typeface="Calibri"/>
              </a:rPr>
              <a:t> </a:t>
            </a:r>
            <a:r>
              <a:rPr sz="4250" spc="-10" dirty="0">
                <a:latin typeface="Calibri"/>
                <a:cs typeface="Calibri"/>
              </a:rPr>
              <a:t>schema </a:t>
            </a:r>
            <a:r>
              <a:rPr sz="4250" dirty="0">
                <a:latin typeface="Calibri"/>
                <a:cs typeface="Calibri"/>
              </a:rPr>
              <a:t>Univariate</a:t>
            </a:r>
            <a:r>
              <a:rPr sz="4250" spc="-195" dirty="0">
                <a:latin typeface="Calibri"/>
                <a:cs typeface="Calibri"/>
              </a:rPr>
              <a:t> </a:t>
            </a:r>
            <a:r>
              <a:rPr sz="4250" spc="-10" dirty="0">
                <a:latin typeface="Calibri"/>
                <a:cs typeface="Calibri"/>
              </a:rPr>
              <a:t>Analysis</a:t>
            </a:r>
            <a:endParaRPr sz="4250">
              <a:latin typeface="Calibri"/>
              <a:cs typeface="Calibri"/>
            </a:endParaRPr>
          </a:p>
          <a:p>
            <a:pPr marL="12700" marR="8035290">
              <a:lnSpc>
                <a:spcPct val="100000"/>
              </a:lnSpc>
            </a:pPr>
            <a:r>
              <a:rPr sz="4250" dirty="0">
                <a:latin typeface="Calibri"/>
                <a:cs typeface="Calibri"/>
              </a:rPr>
              <a:t>Bivariate</a:t>
            </a:r>
            <a:r>
              <a:rPr sz="4250" spc="-180" dirty="0">
                <a:latin typeface="Calibri"/>
                <a:cs typeface="Calibri"/>
              </a:rPr>
              <a:t> </a:t>
            </a:r>
            <a:r>
              <a:rPr sz="4250" spc="-10" dirty="0">
                <a:latin typeface="Calibri"/>
                <a:cs typeface="Calibri"/>
              </a:rPr>
              <a:t>Analysis </a:t>
            </a:r>
            <a:r>
              <a:rPr sz="4250" dirty="0">
                <a:latin typeface="Calibri"/>
                <a:cs typeface="Calibri"/>
              </a:rPr>
              <a:t>Multivariate</a:t>
            </a:r>
            <a:r>
              <a:rPr sz="4250" spc="-204" dirty="0">
                <a:latin typeface="Calibri"/>
                <a:cs typeface="Calibri"/>
              </a:rPr>
              <a:t> </a:t>
            </a:r>
            <a:r>
              <a:rPr sz="4250" spc="-10" dirty="0">
                <a:latin typeface="Calibri"/>
                <a:cs typeface="Calibri"/>
              </a:rPr>
              <a:t>Analysis</a:t>
            </a:r>
            <a:endParaRPr sz="4250">
              <a:latin typeface="Calibri"/>
              <a:cs typeface="Calibri"/>
            </a:endParaRPr>
          </a:p>
          <a:p>
            <a:pPr marL="12700" marR="6203315">
              <a:lnSpc>
                <a:spcPct val="100000"/>
              </a:lnSpc>
            </a:pPr>
            <a:r>
              <a:rPr sz="4250" dirty="0">
                <a:latin typeface="Calibri"/>
                <a:cs typeface="Calibri"/>
              </a:rPr>
              <a:t>Insights</a:t>
            </a:r>
            <a:r>
              <a:rPr sz="4250" spc="-35" dirty="0">
                <a:latin typeface="Calibri"/>
                <a:cs typeface="Calibri"/>
              </a:rPr>
              <a:t> </a:t>
            </a:r>
            <a:r>
              <a:rPr sz="4250" dirty="0">
                <a:latin typeface="Calibri"/>
                <a:cs typeface="Calibri"/>
              </a:rPr>
              <a:t>&amp;</a:t>
            </a:r>
            <a:r>
              <a:rPr sz="4250" spc="-35" dirty="0">
                <a:latin typeface="Calibri"/>
                <a:cs typeface="Calibri"/>
              </a:rPr>
              <a:t> </a:t>
            </a:r>
            <a:r>
              <a:rPr sz="4250" spc="-10" dirty="0">
                <a:latin typeface="Calibri"/>
                <a:cs typeface="Calibri"/>
              </a:rPr>
              <a:t>Recommendations </a:t>
            </a:r>
            <a:r>
              <a:rPr sz="4250" spc="-25" dirty="0">
                <a:latin typeface="Calibri"/>
                <a:cs typeface="Calibri"/>
              </a:rPr>
              <a:t>Q&amp;A</a:t>
            </a:r>
            <a:endParaRPr sz="4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250" spc="-10" dirty="0">
                <a:latin typeface="Calibri"/>
                <a:cs typeface="Calibri"/>
              </a:rPr>
              <a:t>Conclusion</a:t>
            </a:r>
            <a:endParaRPr sz="42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49" y="3712040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49" y="4359740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49" y="5007440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49" y="5655140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49" y="6302840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49" y="6950540"/>
            <a:ext cx="133350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49" y="7598240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49" y="8245940"/>
            <a:ext cx="133350" cy="1333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154573" y="9450606"/>
            <a:ext cx="42862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44599" y="957325"/>
            <a:ext cx="527939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00" dirty="0"/>
              <a:t>Web</a:t>
            </a:r>
            <a:r>
              <a:rPr sz="6800" spc="-55" dirty="0"/>
              <a:t> </a:t>
            </a:r>
            <a:r>
              <a:rPr sz="6800" spc="-10" dirty="0"/>
              <a:t>Scarping</a:t>
            </a:r>
            <a:endParaRPr sz="6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9325" y="2308446"/>
            <a:ext cx="133350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9325" y="3260945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9325" y="4213445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5424" y="6177305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5424" y="6701180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5424" y="7225055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5424" y="8272805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5424" y="8796680"/>
            <a:ext cx="114300" cy="1142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331065" y="2041714"/>
            <a:ext cx="15801975" cy="70186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535940" marR="669925">
              <a:lnSpc>
                <a:spcPts val="3750"/>
              </a:lnSpc>
              <a:spcBef>
                <a:spcPts val="600"/>
              </a:spcBef>
            </a:pPr>
            <a:r>
              <a:rPr sz="3500" dirty="0">
                <a:latin typeface="Times New Roman"/>
                <a:cs typeface="Times New Roman"/>
              </a:rPr>
              <a:t>Selenium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–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Automated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browser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interaction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open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pages,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scroll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dynamically,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Times New Roman"/>
                <a:cs typeface="Times New Roman"/>
              </a:rPr>
              <a:t>and </a:t>
            </a:r>
            <a:r>
              <a:rPr sz="3500" dirty="0">
                <a:latin typeface="Times New Roman"/>
                <a:cs typeface="Times New Roman"/>
              </a:rPr>
              <a:t>load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all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auction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player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listings.</a:t>
            </a:r>
            <a:endParaRPr sz="3500">
              <a:latin typeface="Times New Roman"/>
              <a:cs typeface="Times New Roman"/>
            </a:endParaRPr>
          </a:p>
          <a:p>
            <a:pPr marL="535940" marR="1261745">
              <a:lnSpc>
                <a:spcPts val="3750"/>
              </a:lnSpc>
            </a:pPr>
            <a:r>
              <a:rPr sz="3500" dirty="0">
                <a:latin typeface="Times New Roman"/>
                <a:cs typeface="Times New Roman"/>
              </a:rPr>
              <a:t>BeautifulSoup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(bs4)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–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Parsed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HTML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content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retrieved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from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Selenium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for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easy </a:t>
            </a:r>
            <a:r>
              <a:rPr sz="3500" spc="-10" dirty="0">
                <a:latin typeface="Times New Roman"/>
                <a:cs typeface="Times New Roman"/>
              </a:rPr>
              <a:t>extraction.</a:t>
            </a:r>
            <a:endParaRPr sz="3500">
              <a:latin typeface="Times New Roman"/>
              <a:cs typeface="Times New Roman"/>
            </a:endParaRPr>
          </a:p>
          <a:p>
            <a:pPr marL="535940" marR="855980">
              <a:lnSpc>
                <a:spcPts val="3750"/>
              </a:lnSpc>
            </a:pPr>
            <a:r>
              <a:rPr sz="3500" dirty="0">
                <a:latin typeface="Times New Roman"/>
                <a:cs typeface="Times New Roman"/>
              </a:rPr>
              <a:t>Regular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Expressions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(re)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–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Extracted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structured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information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(Player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Name,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Role, </a:t>
            </a:r>
            <a:r>
              <a:rPr sz="3500" dirty="0">
                <a:latin typeface="Times New Roman"/>
                <a:cs typeface="Times New Roman"/>
              </a:rPr>
              <a:t>Country,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Status,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Base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Price,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Final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Price,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Team)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from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Times New Roman"/>
                <a:cs typeface="Times New Roman"/>
              </a:rPr>
              <a:t>semi-</a:t>
            </a:r>
            <a:r>
              <a:rPr sz="3500" dirty="0">
                <a:latin typeface="Times New Roman"/>
                <a:cs typeface="Times New Roman"/>
              </a:rPr>
              <a:t>structured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text.</a:t>
            </a: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3800" b="1" dirty="0">
                <a:latin typeface="Calibri"/>
                <a:cs typeface="Calibri"/>
              </a:rPr>
              <a:t>IPL</a:t>
            </a:r>
            <a:r>
              <a:rPr sz="3800" b="1" spc="-75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Auction</a:t>
            </a:r>
            <a:r>
              <a:rPr sz="3800" b="1" spc="-7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Data</a:t>
            </a:r>
            <a:r>
              <a:rPr sz="3800" b="1" spc="-75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–</a:t>
            </a:r>
            <a:r>
              <a:rPr sz="3800" b="1" spc="-7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Scraping</a:t>
            </a:r>
            <a:r>
              <a:rPr sz="3800" b="1" spc="-75" dirty="0">
                <a:latin typeface="Calibri"/>
                <a:cs typeface="Calibri"/>
              </a:rPr>
              <a:t> </a:t>
            </a:r>
            <a:r>
              <a:rPr sz="3800" b="1" spc="-10" dirty="0">
                <a:latin typeface="Calibri"/>
                <a:cs typeface="Calibri"/>
              </a:rPr>
              <a:t>Process</a:t>
            </a:r>
            <a:endParaRPr sz="3800">
              <a:latin typeface="Calibri"/>
              <a:cs typeface="Calibri"/>
            </a:endParaRPr>
          </a:p>
          <a:p>
            <a:pPr marL="452755" marR="5080">
              <a:lnSpc>
                <a:spcPts val="4130"/>
              </a:lnSpc>
              <a:spcBef>
                <a:spcPts val="1765"/>
              </a:spcBef>
            </a:pPr>
            <a:r>
              <a:rPr sz="3500" dirty="0">
                <a:latin typeface="Calibri"/>
                <a:cs typeface="Calibri"/>
              </a:rPr>
              <a:t>Opened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the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IPL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auction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webpage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and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automatically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scrolled</a:t>
            </a:r>
            <a:r>
              <a:rPr sz="3500" spc="-6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to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load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all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player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listings. </a:t>
            </a:r>
            <a:r>
              <a:rPr sz="3500" dirty="0">
                <a:latin typeface="Calibri"/>
                <a:cs typeface="Calibri"/>
              </a:rPr>
              <a:t>Identified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player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cards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the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HTML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structure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for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extraction.</a:t>
            </a:r>
            <a:endParaRPr sz="3500">
              <a:latin typeface="Calibri"/>
              <a:cs typeface="Calibri"/>
            </a:endParaRPr>
          </a:p>
          <a:p>
            <a:pPr marL="452755">
              <a:lnSpc>
                <a:spcPts val="3954"/>
              </a:lnSpc>
            </a:pPr>
            <a:r>
              <a:rPr sz="3500" dirty="0">
                <a:latin typeface="Calibri"/>
                <a:cs typeface="Calibri"/>
              </a:rPr>
              <a:t>Extracted</a:t>
            </a:r>
            <a:r>
              <a:rPr sz="3500" spc="-114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key</a:t>
            </a:r>
            <a:r>
              <a:rPr sz="3500" spc="-114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attributes: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spc="-50" dirty="0">
                <a:latin typeface="Calibri"/>
                <a:cs typeface="Calibri"/>
              </a:rPr>
              <a:t>Player,</a:t>
            </a:r>
            <a:r>
              <a:rPr sz="3500" spc="-114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Role,</a:t>
            </a:r>
            <a:r>
              <a:rPr sz="3500" spc="-114" dirty="0">
                <a:latin typeface="Calibri"/>
                <a:cs typeface="Calibri"/>
              </a:rPr>
              <a:t> </a:t>
            </a:r>
            <a:r>
              <a:rPr sz="3500" spc="-30" dirty="0">
                <a:latin typeface="Calibri"/>
                <a:cs typeface="Calibri"/>
              </a:rPr>
              <a:t>Country,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Status,</a:t>
            </a:r>
            <a:r>
              <a:rPr sz="3500" spc="-114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Base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Price,</a:t>
            </a:r>
            <a:r>
              <a:rPr sz="3500" spc="-114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Final</a:t>
            </a:r>
            <a:r>
              <a:rPr sz="3500" spc="-114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Price,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spc="-20" dirty="0">
                <a:latin typeface="Calibri"/>
                <a:cs typeface="Calibri"/>
              </a:rPr>
              <a:t>Team</a:t>
            </a:r>
            <a:endParaRPr sz="3500">
              <a:latin typeface="Calibri"/>
              <a:cs typeface="Calibri"/>
            </a:endParaRPr>
          </a:p>
          <a:p>
            <a:pPr marL="452755">
              <a:lnSpc>
                <a:spcPts val="4125"/>
              </a:lnSpc>
            </a:pPr>
            <a:r>
              <a:rPr sz="3500" dirty="0">
                <a:latin typeface="Calibri"/>
                <a:cs typeface="Calibri"/>
              </a:rPr>
              <a:t>using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Regex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and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BeautifulSoup.</a:t>
            </a:r>
            <a:endParaRPr sz="3500">
              <a:latin typeface="Calibri"/>
              <a:cs typeface="Calibri"/>
            </a:endParaRPr>
          </a:p>
          <a:p>
            <a:pPr marL="452755">
              <a:lnSpc>
                <a:spcPts val="4125"/>
              </a:lnSpc>
            </a:pPr>
            <a:r>
              <a:rPr sz="3500" spc="-10" dirty="0">
                <a:latin typeface="Calibri"/>
                <a:cs typeface="Calibri"/>
              </a:rPr>
              <a:t>Organized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the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data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into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clean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pandas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DataFrame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for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analysis.</a:t>
            </a:r>
            <a:endParaRPr sz="3500">
              <a:latin typeface="Calibri"/>
              <a:cs typeface="Calibri"/>
            </a:endParaRPr>
          </a:p>
          <a:p>
            <a:pPr marL="452755">
              <a:lnSpc>
                <a:spcPts val="4160"/>
              </a:lnSpc>
            </a:pPr>
            <a:r>
              <a:rPr sz="3500" dirty="0">
                <a:latin typeface="Calibri"/>
                <a:cs typeface="Calibri"/>
              </a:rPr>
              <a:t>Saved</a:t>
            </a:r>
            <a:r>
              <a:rPr sz="3500" spc="-10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the</a:t>
            </a:r>
            <a:r>
              <a:rPr sz="3500" spc="-10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structured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dataset</a:t>
            </a:r>
            <a:r>
              <a:rPr sz="3500" spc="-10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as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CSV</a:t>
            </a:r>
            <a:r>
              <a:rPr sz="3500" spc="-10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for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further</a:t>
            </a:r>
            <a:r>
              <a:rPr sz="3500" spc="-10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processing</a:t>
            </a:r>
            <a:r>
              <a:rPr sz="3500" spc="-10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and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visualization.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54573" y="9450606"/>
            <a:ext cx="42862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0585" rIns="0" bIns="0" rtlCol="0">
            <a:spAutoFit/>
          </a:bodyPr>
          <a:lstStyle/>
          <a:p>
            <a:pPr marL="589280">
              <a:lnSpc>
                <a:spcPct val="100000"/>
              </a:lnSpc>
              <a:spcBef>
                <a:spcPts val="100"/>
              </a:spcBef>
            </a:pPr>
            <a:r>
              <a:rPr sz="7600" spc="-655" dirty="0"/>
              <a:t>T</a:t>
            </a:r>
            <a:r>
              <a:rPr sz="7600" spc="50" dirty="0"/>
              <a:t>oo</a:t>
            </a:r>
            <a:r>
              <a:rPr sz="7600" spc="55" dirty="0"/>
              <a:t>ls</a:t>
            </a:r>
            <a:r>
              <a:rPr sz="7600" spc="-370" dirty="0"/>
              <a:t> </a:t>
            </a:r>
            <a:r>
              <a:rPr sz="7600" spc="-10" dirty="0"/>
              <a:t>Used:</a:t>
            </a:r>
            <a:endParaRPr sz="7600"/>
          </a:p>
        </p:txBody>
      </p:sp>
      <p:sp>
        <p:nvSpPr>
          <p:cNvPr id="3" name="object 3"/>
          <p:cNvSpPr txBox="1"/>
          <p:nvPr/>
        </p:nvSpPr>
        <p:spPr>
          <a:xfrm>
            <a:off x="13154573" y="9450606"/>
            <a:ext cx="42862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2542" y="686915"/>
            <a:ext cx="10314940" cy="944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0" dirty="0"/>
              <a:t>Data</a:t>
            </a:r>
            <a:r>
              <a:rPr sz="6000" spc="-100" dirty="0"/>
              <a:t> </a:t>
            </a:r>
            <a:r>
              <a:rPr sz="6000" dirty="0"/>
              <a:t>Preprocessing</a:t>
            </a:r>
            <a:r>
              <a:rPr sz="6000" spc="-85" dirty="0"/>
              <a:t> </a:t>
            </a:r>
            <a:r>
              <a:rPr sz="6000" dirty="0"/>
              <a:t>&amp;</a:t>
            </a:r>
            <a:r>
              <a:rPr sz="6000" spc="-85" dirty="0"/>
              <a:t> </a:t>
            </a:r>
            <a:r>
              <a:rPr sz="6000" spc="-10" dirty="0"/>
              <a:t>Cleaning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1690" y="2584462"/>
            <a:ext cx="124330" cy="1243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1690" y="3167858"/>
            <a:ext cx="124330" cy="1243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1690" y="3751254"/>
            <a:ext cx="124330" cy="1243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592" y="5948705"/>
            <a:ext cx="123825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592" y="6520205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592" y="7091705"/>
            <a:ext cx="123825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592" y="7663205"/>
            <a:ext cx="123825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592" y="8234705"/>
            <a:ext cx="123825" cy="1238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72542" y="1608681"/>
            <a:ext cx="15809594" cy="69164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5340"/>
              </a:lnSpc>
              <a:spcBef>
                <a:spcPts val="120"/>
              </a:spcBef>
            </a:pPr>
            <a:r>
              <a:rPr sz="4550" b="1" dirty="0">
                <a:latin typeface="Times New Roman"/>
                <a:cs typeface="Times New Roman"/>
              </a:rPr>
              <a:t>Libraries</a:t>
            </a:r>
            <a:r>
              <a:rPr sz="4550" b="1" spc="-30" dirty="0">
                <a:latin typeface="Times New Roman"/>
                <a:cs typeface="Times New Roman"/>
              </a:rPr>
              <a:t> </a:t>
            </a:r>
            <a:r>
              <a:rPr sz="4550" b="1" dirty="0">
                <a:latin typeface="Times New Roman"/>
                <a:cs typeface="Times New Roman"/>
              </a:rPr>
              <a:t>Used</a:t>
            </a:r>
            <a:r>
              <a:rPr sz="4550" b="1" spc="-20" dirty="0">
                <a:latin typeface="Times New Roman"/>
                <a:cs typeface="Times New Roman"/>
              </a:rPr>
              <a:t> </a:t>
            </a:r>
            <a:r>
              <a:rPr sz="4550" b="1" dirty="0">
                <a:latin typeface="Times New Roman"/>
                <a:cs typeface="Times New Roman"/>
              </a:rPr>
              <a:t>&amp;</a:t>
            </a:r>
            <a:r>
              <a:rPr sz="4550" b="1" spc="-100" dirty="0">
                <a:latin typeface="Times New Roman"/>
                <a:cs typeface="Times New Roman"/>
              </a:rPr>
              <a:t> </a:t>
            </a:r>
            <a:r>
              <a:rPr sz="4550" b="1" dirty="0">
                <a:latin typeface="Times New Roman"/>
                <a:cs typeface="Times New Roman"/>
              </a:rPr>
              <a:t>Their</a:t>
            </a:r>
            <a:r>
              <a:rPr sz="4550" b="1" spc="-95" dirty="0">
                <a:latin typeface="Times New Roman"/>
                <a:cs typeface="Times New Roman"/>
              </a:rPr>
              <a:t> </a:t>
            </a:r>
            <a:r>
              <a:rPr sz="4550" b="1" spc="-10" dirty="0">
                <a:latin typeface="Times New Roman"/>
                <a:cs typeface="Times New Roman"/>
              </a:rPr>
              <a:t>Purpose:</a:t>
            </a:r>
            <a:endParaRPr sz="4550">
              <a:latin typeface="Times New Roman"/>
              <a:cs typeface="Times New Roman"/>
            </a:endParaRPr>
          </a:p>
          <a:p>
            <a:pPr marL="847725" marR="2466340">
              <a:lnSpc>
                <a:spcPts val="4590"/>
              </a:lnSpc>
              <a:spcBef>
                <a:spcPts val="55"/>
              </a:spcBef>
            </a:pPr>
            <a:r>
              <a:rPr sz="3850" dirty="0">
                <a:latin typeface="Calibri"/>
                <a:cs typeface="Calibri"/>
              </a:rPr>
              <a:t>Pandas</a:t>
            </a:r>
            <a:r>
              <a:rPr sz="3850" spc="-75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–</a:t>
            </a:r>
            <a:r>
              <a:rPr sz="3850" spc="-6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Data</a:t>
            </a:r>
            <a:r>
              <a:rPr sz="3850" spc="-6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storage,</a:t>
            </a:r>
            <a:r>
              <a:rPr sz="3850" spc="-65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cleaning,</a:t>
            </a:r>
            <a:r>
              <a:rPr sz="3850" spc="-60" dirty="0">
                <a:latin typeface="Calibri"/>
                <a:cs typeface="Calibri"/>
              </a:rPr>
              <a:t> </a:t>
            </a:r>
            <a:r>
              <a:rPr sz="3850" spc="-10" dirty="0">
                <a:latin typeface="Calibri"/>
                <a:cs typeface="Calibri"/>
              </a:rPr>
              <a:t>transformation,</a:t>
            </a:r>
            <a:r>
              <a:rPr sz="3850" spc="-6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and</a:t>
            </a:r>
            <a:r>
              <a:rPr sz="3850" spc="-60" dirty="0">
                <a:latin typeface="Calibri"/>
                <a:cs typeface="Calibri"/>
              </a:rPr>
              <a:t> </a:t>
            </a:r>
            <a:r>
              <a:rPr sz="3850" spc="-10" dirty="0">
                <a:latin typeface="Calibri"/>
                <a:cs typeface="Calibri"/>
              </a:rPr>
              <a:t>analysis </a:t>
            </a:r>
            <a:r>
              <a:rPr sz="3850" dirty="0">
                <a:latin typeface="Calibri"/>
                <a:cs typeface="Calibri"/>
              </a:rPr>
              <a:t>NumPy</a:t>
            </a:r>
            <a:r>
              <a:rPr sz="3850" spc="-3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–</a:t>
            </a:r>
            <a:r>
              <a:rPr sz="3850" spc="-2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Numerical</a:t>
            </a:r>
            <a:r>
              <a:rPr sz="3850" spc="-2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computations</a:t>
            </a:r>
            <a:r>
              <a:rPr sz="3850" spc="-2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and</a:t>
            </a:r>
            <a:r>
              <a:rPr sz="3850" spc="-2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handling</a:t>
            </a:r>
            <a:r>
              <a:rPr sz="3850" spc="-2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missing</a:t>
            </a:r>
            <a:r>
              <a:rPr sz="3850" spc="-20" dirty="0">
                <a:latin typeface="Calibri"/>
                <a:cs typeface="Calibri"/>
              </a:rPr>
              <a:t> </a:t>
            </a:r>
            <a:r>
              <a:rPr sz="3850" spc="-10" dirty="0">
                <a:latin typeface="Calibri"/>
                <a:cs typeface="Calibri"/>
              </a:rPr>
              <a:t>values</a:t>
            </a:r>
            <a:endParaRPr sz="3850">
              <a:latin typeface="Calibri"/>
              <a:cs typeface="Calibri"/>
            </a:endParaRPr>
          </a:p>
          <a:p>
            <a:pPr marL="847725" marR="5080">
              <a:lnSpc>
                <a:spcPts val="4590"/>
              </a:lnSpc>
              <a:spcBef>
                <a:spcPts val="10"/>
              </a:spcBef>
            </a:pPr>
            <a:r>
              <a:rPr sz="3850" dirty="0">
                <a:latin typeface="Calibri"/>
                <a:cs typeface="Calibri"/>
              </a:rPr>
              <a:t>Regular</a:t>
            </a:r>
            <a:r>
              <a:rPr sz="3850" spc="-55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Expressions</a:t>
            </a:r>
            <a:r>
              <a:rPr sz="3850" spc="-5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(re)</a:t>
            </a:r>
            <a:r>
              <a:rPr sz="3850" spc="-55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–</a:t>
            </a:r>
            <a:r>
              <a:rPr sz="3850" spc="-5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Extracting</a:t>
            </a:r>
            <a:r>
              <a:rPr sz="3850" spc="-5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structured</a:t>
            </a:r>
            <a:r>
              <a:rPr sz="3850" spc="-55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fields</a:t>
            </a:r>
            <a:r>
              <a:rPr sz="3850" spc="-5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from</a:t>
            </a:r>
            <a:r>
              <a:rPr sz="3850" spc="-50" dirty="0">
                <a:latin typeface="Calibri"/>
                <a:cs typeface="Calibri"/>
              </a:rPr>
              <a:t> </a:t>
            </a:r>
            <a:r>
              <a:rPr sz="3850" dirty="0">
                <a:latin typeface="Calibri"/>
                <a:cs typeface="Calibri"/>
              </a:rPr>
              <a:t>semi-</a:t>
            </a:r>
            <a:r>
              <a:rPr sz="3850" spc="-10" dirty="0">
                <a:latin typeface="Calibri"/>
                <a:cs typeface="Calibri"/>
              </a:rPr>
              <a:t>structured </a:t>
            </a:r>
            <a:r>
              <a:rPr sz="3850" dirty="0">
                <a:latin typeface="Calibri"/>
                <a:cs typeface="Calibri"/>
              </a:rPr>
              <a:t>auction </a:t>
            </a:r>
            <a:r>
              <a:rPr sz="3850" spc="-20" dirty="0">
                <a:latin typeface="Calibri"/>
                <a:cs typeface="Calibri"/>
              </a:rPr>
              <a:t>text</a:t>
            </a:r>
            <a:endParaRPr sz="3850">
              <a:latin typeface="Calibri"/>
              <a:cs typeface="Calibri"/>
            </a:endParaRPr>
          </a:p>
          <a:p>
            <a:pPr marL="12700">
              <a:lnSpc>
                <a:spcPts val="5375"/>
              </a:lnSpc>
              <a:spcBef>
                <a:spcPts val="2690"/>
              </a:spcBef>
            </a:pPr>
            <a:r>
              <a:rPr sz="4600" b="1" dirty="0">
                <a:latin typeface="Times New Roman"/>
                <a:cs typeface="Times New Roman"/>
              </a:rPr>
              <a:t>Data</a:t>
            </a:r>
            <a:r>
              <a:rPr sz="4600" b="1" spc="-130" dirty="0">
                <a:latin typeface="Times New Roman"/>
                <a:cs typeface="Times New Roman"/>
              </a:rPr>
              <a:t> </a:t>
            </a:r>
            <a:r>
              <a:rPr sz="4600" b="1" dirty="0">
                <a:latin typeface="Times New Roman"/>
                <a:cs typeface="Times New Roman"/>
              </a:rPr>
              <a:t>Cleaning</a:t>
            </a:r>
            <a:r>
              <a:rPr sz="4600" b="1" spc="-130" dirty="0">
                <a:latin typeface="Times New Roman"/>
                <a:cs typeface="Times New Roman"/>
              </a:rPr>
              <a:t> </a:t>
            </a:r>
            <a:r>
              <a:rPr sz="4600" b="1" dirty="0">
                <a:latin typeface="Times New Roman"/>
                <a:cs typeface="Times New Roman"/>
              </a:rPr>
              <a:t>&amp;</a:t>
            </a:r>
            <a:r>
              <a:rPr sz="4600" b="1" spc="-130" dirty="0">
                <a:latin typeface="Times New Roman"/>
                <a:cs typeface="Times New Roman"/>
              </a:rPr>
              <a:t> </a:t>
            </a:r>
            <a:r>
              <a:rPr sz="4600" b="1" spc="-10" dirty="0">
                <a:latin typeface="Times New Roman"/>
                <a:cs typeface="Times New Roman"/>
              </a:rPr>
              <a:t>Preparation</a:t>
            </a:r>
            <a:r>
              <a:rPr sz="4600" b="1" spc="-130" dirty="0">
                <a:latin typeface="Times New Roman"/>
                <a:cs typeface="Times New Roman"/>
              </a:rPr>
              <a:t> </a:t>
            </a:r>
            <a:r>
              <a:rPr sz="4600" b="1" spc="-10" dirty="0">
                <a:latin typeface="Times New Roman"/>
                <a:cs typeface="Times New Roman"/>
              </a:rPr>
              <a:t>Steps:</a:t>
            </a:r>
            <a:endParaRPr sz="4600">
              <a:latin typeface="Times New Roman"/>
              <a:cs typeface="Times New Roman"/>
            </a:endParaRPr>
          </a:p>
          <a:p>
            <a:pPr marL="831850" marR="2189480">
              <a:lnSpc>
                <a:spcPts val="4500"/>
              </a:lnSpc>
              <a:spcBef>
                <a:spcPts val="50"/>
              </a:spcBef>
            </a:pPr>
            <a:r>
              <a:rPr sz="3800" spc="-25" dirty="0">
                <a:latin typeface="Calibri"/>
                <a:cs typeface="Calibri"/>
              </a:rPr>
              <a:t>Standardized</a:t>
            </a:r>
            <a:r>
              <a:rPr sz="3800" spc="-14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player</a:t>
            </a:r>
            <a:r>
              <a:rPr sz="3800" spc="-140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attributes</a:t>
            </a:r>
            <a:r>
              <a:rPr sz="3800" spc="-1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(role,</a:t>
            </a:r>
            <a:r>
              <a:rPr sz="3800" spc="-140" dirty="0">
                <a:latin typeface="Calibri"/>
                <a:cs typeface="Calibri"/>
              </a:rPr>
              <a:t> </a:t>
            </a:r>
            <a:r>
              <a:rPr sz="3800" spc="-40" dirty="0">
                <a:latin typeface="Calibri"/>
                <a:cs typeface="Calibri"/>
              </a:rPr>
              <a:t>country,</a:t>
            </a:r>
            <a:r>
              <a:rPr sz="3800" spc="-13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status,</a:t>
            </a:r>
            <a:r>
              <a:rPr sz="3800" spc="-14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prices,</a:t>
            </a:r>
            <a:r>
              <a:rPr sz="3800" spc="-14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team) Converted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price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units</a:t>
            </a:r>
            <a:r>
              <a:rPr sz="3800" spc="-1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(Lakh/Cr)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into</a:t>
            </a:r>
            <a:r>
              <a:rPr sz="3800" spc="-1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numeric</a:t>
            </a:r>
            <a:r>
              <a:rPr sz="3800" spc="-12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format</a:t>
            </a:r>
            <a:endParaRPr sz="3800">
              <a:latin typeface="Calibri"/>
              <a:cs typeface="Calibri"/>
            </a:endParaRPr>
          </a:p>
          <a:p>
            <a:pPr marL="831850" marR="2425065">
              <a:lnSpc>
                <a:spcPts val="4500"/>
              </a:lnSpc>
            </a:pPr>
            <a:r>
              <a:rPr sz="3800" spc="-45" dirty="0">
                <a:latin typeface="Calibri"/>
                <a:cs typeface="Calibri"/>
              </a:rPr>
              <a:t>Transformed</a:t>
            </a:r>
            <a:r>
              <a:rPr sz="3800" spc="-16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raw</a:t>
            </a:r>
            <a:r>
              <a:rPr sz="3800" spc="-15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scraped</a:t>
            </a:r>
            <a:r>
              <a:rPr sz="3800" spc="-15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text</a:t>
            </a:r>
            <a:r>
              <a:rPr sz="3800" spc="-15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into</a:t>
            </a:r>
            <a:r>
              <a:rPr sz="3800" spc="-16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structured</a:t>
            </a:r>
            <a:r>
              <a:rPr sz="3800" spc="-15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columns </a:t>
            </a:r>
            <a:r>
              <a:rPr sz="3800" spc="-20" dirty="0">
                <a:latin typeface="Calibri"/>
                <a:cs typeface="Calibri"/>
              </a:rPr>
              <a:t>Performed</a:t>
            </a:r>
            <a:r>
              <a:rPr sz="3800" spc="-15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data</a:t>
            </a:r>
            <a:r>
              <a:rPr sz="3800" spc="-15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quality</a:t>
            </a:r>
            <a:r>
              <a:rPr sz="3800" spc="-15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checks</a:t>
            </a:r>
            <a:r>
              <a:rPr sz="3800" spc="-14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(nulls,</a:t>
            </a:r>
            <a:r>
              <a:rPr sz="3800" spc="-15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duplicates,</a:t>
            </a:r>
            <a:r>
              <a:rPr sz="3800" spc="-15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summary</a:t>
            </a:r>
            <a:r>
              <a:rPr sz="3800" spc="-15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stats)</a:t>
            </a:r>
            <a:endParaRPr sz="3800">
              <a:latin typeface="Calibri"/>
              <a:cs typeface="Calibri"/>
            </a:endParaRPr>
          </a:p>
          <a:p>
            <a:pPr marL="831850">
              <a:lnSpc>
                <a:spcPts val="4360"/>
              </a:lnSpc>
            </a:pPr>
            <a:r>
              <a:rPr sz="3800" dirty="0">
                <a:latin typeface="Calibri"/>
                <a:cs typeface="Calibri"/>
              </a:rPr>
              <a:t>Handled</a:t>
            </a:r>
            <a:r>
              <a:rPr sz="3800" spc="-1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missing</a:t>
            </a:r>
            <a:r>
              <a:rPr sz="3800" spc="-1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values</a:t>
            </a:r>
            <a:r>
              <a:rPr sz="3800" spc="-1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logically</a:t>
            </a:r>
            <a:r>
              <a:rPr sz="3800" spc="-1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and</a:t>
            </a:r>
            <a:r>
              <a:rPr sz="3800" spc="-12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prepared</a:t>
            </a:r>
            <a:r>
              <a:rPr sz="3800" spc="-1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</a:t>
            </a:r>
            <a:r>
              <a:rPr sz="3800" spc="-1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clean</a:t>
            </a:r>
            <a:r>
              <a:rPr sz="3800" spc="-1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dataset</a:t>
            </a:r>
            <a:r>
              <a:rPr sz="3800" spc="-1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for</a:t>
            </a:r>
            <a:r>
              <a:rPr sz="3800" spc="-1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analysis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54573" y="9450606"/>
            <a:ext cx="42862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7249" y="1766887"/>
            <a:ext cx="114299" cy="1142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755650">
              <a:lnSpc>
                <a:spcPct val="100000"/>
              </a:lnSpc>
              <a:spcBef>
                <a:spcPts val="1025"/>
              </a:spcBef>
            </a:pPr>
            <a:r>
              <a:rPr sz="7000" dirty="0">
                <a:latin typeface="Calibri"/>
                <a:cs typeface="Calibri"/>
              </a:rPr>
              <a:t>Dataset</a:t>
            </a:r>
            <a:r>
              <a:rPr sz="7000" spc="-240" dirty="0">
                <a:latin typeface="Calibri"/>
                <a:cs typeface="Calibri"/>
              </a:rPr>
              <a:t> </a:t>
            </a:r>
            <a:r>
              <a:rPr sz="7000" spc="-10" dirty="0">
                <a:latin typeface="Calibri"/>
                <a:cs typeface="Calibri"/>
              </a:rPr>
              <a:t>Overview</a:t>
            </a:r>
            <a:endParaRPr sz="7000">
              <a:latin typeface="Calibri"/>
              <a:cs typeface="Calibri"/>
            </a:endParaRPr>
          </a:p>
          <a:p>
            <a:pPr marL="1102995" marR="5080">
              <a:lnSpc>
                <a:spcPts val="4280"/>
              </a:lnSpc>
              <a:spcBef>
                <a:spcPts val="610"/>
              </a:spcBef>
            </a:pP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3600" b="0" spc="8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final</a:t>
            </a:r>
            <a:r>
              <a:rPr sz="3600" b="0" spc="8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cleaned</a:t>
            </a:r>
            <a:r>
              <a:rPr sz="3600" b="0" spc="8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dataset</a:t>
            </a:r>
            <a:r>
              <a:rPr sz="3600" b="0" spc="8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contains</a:t>
            </a:r>
            <a:r>
              <a:rPr sz="3600" b="0" spc="8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521</a:t>
            </a:r>
            <a:r>
              <a:rPr sz="3600" b="0" spc="8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rows</a:t>
            </a:r>
            <a:r>
              <a:rPr sz="3600" b="0" spc="8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3600" b="0" spc="8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16</a:t>
            </a:r>
            <a:r>
              <a:rPr sz="3600" b="0" spc="8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columns,</a:t>
            </a:r>
            <a:r>
              <a:rPr sz="3600" b="0" spc="8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representing</a:t>
            </a:r>
            <a:r>
              <a:rPr sz="3600" b="0" spc="8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spc="-25" dirty="0">
                <a:solidFill>
                  <a:srgbClr val="000000"/>
                </a:solidFill>
                <a:latin typeface="Calibri"/>
                <a:cs typeface="Calibri"/>
              </a:rPr>
              <a:t>IPL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auction</a:t>
            </a:r>
            <a:r>
              <a:rPr sz="3600" b="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player</a:t>
            </a:r>
            <a:r>
              <a:rPr sz="3600" b="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3600" b="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collected</a:t>
            </a:r>
            <a:r>
              <a:rPr sz="3600" b="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from</a:t>
            </a:r>
            <a:r>
              <a:rPr sz="3600" b="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3600" b="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relevant</a:t>
            </a:r>
            <a:r>
              <a:rPr sz="3600" b="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Calibri"/>
                <a:cs typeface="Calibri"/>
              </a:rPr>
              <a:t>cricket</a:t>
            </a:r>
            <a:r>
              <a:rPr sz="3600" b="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auction</a:t>
            </a:r>
            <a:r>
              <a:rPr sz="3600" b="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Calibri"/>
                <a:cs typeface="Calibri"/>
              </a:rPr>
              <a:t>website.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4229100"/>
            <a:ext cx="114300" cy="114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4752975"/>
            <a:ext cx="114300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5276849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5800724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6324599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6848475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7372349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7896224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8420099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4" y="8943974"/>
            <a:ext cx="114300" cy="114299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20" dirty="0"/>
              <a:t> </a:t>
            </a:r>
            <a:r>
              <a:rPr dirty="0"/>
              <a:t>Columns</a:t>
            </a:r>
            <a:r>
              <a:rPr spc="-120" dirty="0"/>
              <a:t> </a:t>
            </a:r>
            <a:r>
              <a:rPr dirty="0"/>
              <a:t>&amp;</a:t>
            </a:r>
            <a:r>
              <a:rPr spc="-120" dirty="0"/>
              <a:t> </a:t>
            </a:r>
            <a:r>
              <a:rPr spc="-10" dirty="0"/>
              <a:t>Description</a:t>
            </a:r>
          </a:p>
          <a:p>
            <a:pPr marL="241300">
              <a:lnSpc>
                <a:spcPts val="4165"/>
              </a:lnSpc>
              <a:spcBef>
                <a:spcPts val="100"/>
              </a:spcBef>
            </a:pPr>
            <a:r>
              <a:rPr sz="3500" b="0" dirty="0">
                <a:latin typeface="Calibri"/>
                <a:cs typeface="Calibri"/>
              </a:rPr>
              <a:t>Player</a:t>
            </a:r>
            <a:r>
              <a:rPr sz="3500" b="0" spc="-8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–</a:t>
            </a:r>
            <a:r>
              <a:rPr sz="3500" b="0" spc="-8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Identifies</a:t>
            </a:r>
            <a:r>
              <a:rPr sz="3500" b="0" spc="-8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the</a:t>
            </a:r>
            <a:r>
              <a:rPr sz="3500" b="0" spc="-80" dirty="0">
                <a:latin typeface="Calibri"/>
                <a:cs typeface="Calibri"/>
              </a:rPr>
              <a:t> </a:t>
            </a:r>
            <a:r>
              <a:rPr sz="3500" b="0" spc="-10" dirty="0">
                <a:latin typeface="Calibri"/>
                <a:cs typeface="Calibri"/>
              </a:rPr>
              <a:t>cricketer</a:t>
            </a:r>
            <a:endParaRPr sz="3500">
              <a:latin typeface="Calibri"/>
              <a:cs typeface="Calibri"/>
            </a:endParaRPr>
          </a:p>
          <a:p>
            <a:pPr marL="241300">
              <a:lnSpc>
                <a:spcPts val="4125"/>
              </a:lnSpc>
            </a:pPr>
            <a:r>
              <a:rPr sz="3500" b="0" dirty="0">
                <a:latin typeface="Calibri"/>
                <a:cs typeface="Calibri"/>
              </a:rPr>
              <a:t>Role</a:t>
            </a:r>
            <a:r>
              <a:rPr sz="3500" b="0" spc="-6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–</a:t>
            </a:r>
            <a:r>
              <a:rPr sz="3500" b="0" spc="-6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Batsman</a:t>
            </a:r>
            <a:r>
              <a:rPr sz="3500" b="0" spc="-5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/</a:t>
            </a:r>
            <a:r>
              <a:rPr sz="3500" b="0" spc="-6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Bowler</a:t>
            </a:r>
            <a:r>
              <a:rPr sz="3500" b="0" spc="-6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/</a:t>
            </a:r>
            <a:r>
              <a:rPr sz="3500" b="0" spc="-5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Allrounder</a:t>
            </a:r>
            <a:r>
              <a:rPr sz="3500" b="0" spc="-6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/</a:t>
            </a:r>
            <a:r>
              <a:rPr sz="3500" b="0" spc="-60" dirty="0">
                <a:latin typeface="Calibri"/>
                <a:cs typeface="Calibri"/>
              </a:rPr>
              <a:t> </a:t>
            </a:r>
            <a:r>
              <a:rPr sz="3500" b="0" spc="-25" dirty="0">
                <a:latin typeface="Calibri"/>
                <a:cs typeface="Calibri"/>
              </a:rPr>
              <a:t>WK</a:t>
            </a:r>
            <a:endParaRPr sz="3500">
              <a:latin typeface="Calibri"/>
              <a:cs typeface="Calibri"/>
            </a:endParaRPr>
          </a:p>
          <a:p>
            <a:pPr marL="241300" marR="1049020">
              <a:lnSpc>
                <a:spcPts val="4120"/>
              </a:lnSpc>
              <a:spcBef>
                <a:spcPts val="165"/>
              </a:spcBef>
            </a:pPr>
            <a:r>
              <a:rPr sz="3500" b="0" dirty="0">
                <a:latin typeface="Calibri"/>
                <a:cs typeface="Calibri"/>
              </a:rPr>
              <a:t>Country</a:t>
            </a:r>
            <a:r>
              <a:rPr sz="3500" b="0" spc="-7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/</a:t>
            </a:r>
            <a:r>
              <a:rPr sz="3500" b="0" spc="-7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Overseas</a:t>
            </a:r>
            <a:r>
              <a:rPr sz="3500" b="0" spc="-7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–</a:t>
            </a:r>
            <a:r>
              <a:rPr sz="3500" b="0" spc="-7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Indian</a:t>
            </a:r>
            <a:r>
              <a:rPr sz="3500" b="0" spc="-7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vs</a:t>
            </a:r>
            <a:r>
              <a:rPr sz="3500" b="0" spc="-7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Overseas</a:t>
            </a:r>
            <a:r>
              <a:rPr sz="3500" b="0" spc="-75" dirty="0">
                <a:latin typeface="Calibri"/>
                <a:cs typeface="Calibri"/>
              </a:rPr>
              <a:t> </a:t>
            </a:r>
            <a:r>
              <a:rPr sz="3500" b="0" spc="-10" dirty="0">
                <a:latin typeface="Calibri"/>
                <a:cs typeface="Calibri"/>
              </a:rPr>
              <a:t>classification </a:t>
            </a:r>
            <a:r>
              <a:rPr sz="3500" b="0" dirty="0">
                <a:latin typeface="Calibri"/>
                <a:cs typeface="Calibri"/>
              </a:rPr>
              <a:t>Status</a:t>
            </a:r>
            <a:r>
              <a:rPr sz="3500" b="0" spc="-5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–</a:t>
            </a:r>
            <a:r>
              <a:rPr sz="3500" b="0" spc="-5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Sold</a:t>
            </a:r>
            <a:r>
              <a:rPr sz="3500" b="0" spc="-5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/</a:t>
            </a:r>
            <a:r>
              <a:rPr sz="3500" b="0" spc="-5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Unsold</a:t>
            </a:r>
            <a:r>
              <a:rPr sz="3500" b="0" spc="-5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/</a:t>
            </a:r>
            <a:r>
              <a:rPr sz="3500" b="0" spc="-50" dirty="0">
                <a:latin typeface="Calibri"/>
                <a:cs typeface="Calibri"/>
              </a:rPr>
              <a:t> </a:t>
            </a:r>
            <a:r>
              <a:rPr sz="3500" b="0" spc="-10" dirty="0">
                <a:latin typeface="Calibri"/>
                <a:cs typeface="Calibri"/>
              </a:rPr>
              <a:t>Retained</a:t>
            </a:r>
            <a:endParaRPr sz="3500">
              <a:latin typeface="Calibri"/>
              <a:cs typeface="Calibri"/>
            </a:endParaRPr>
          </a:p>
          <a:p>
            <a:pPr marL="241300">
              <a:lnSpc>
                <a:spcPts val="3970"/>
              </a:lnSpc>
            </a:pPr>
            <a:r>
              <a:rPr sz="3500" b="0" spc="-30" dirty="0">
                <a:latin typeface="Calibri"/>
                <a:cs typeface="Calibri"/>
              </a:rPr>
              <a:t>Year</a:t>
            </a:r>
            <a:r>
              <a:rPr sz="3500" b="0" spc="-9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–</a:t>
            </a:r>
            <a:r>
              <a:rPr sz="3500" b="0" spc="-9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Auction</a:t>
            </a:r>
            <a:r>
              <a:rPr sz="3500" b="0" spc="-8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year</a:t>
            </a:r>
            <a:r>
              <a:rPr sz="3500" b="0" spc="-9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(2025,</a:t>
            </a:r>
            <a:r>
              <a:rPr sz="3500" b="0" spc="-90" dirty="0">
                <a:latin typeface="Calibri"/>
                <a:cs typeface="Calibri"/>
              </a:rPr>
              <a:t> </a:t>
            </a:r>
            <a:r>
              <a:rPr sz="3500" b="0" spc="-10" dirty="0">
                <a:latin typeface="Calibri"/>
                <a:cs typeface="Calibri"/>
              </a:rPr>
              <a:t>2026)</a:t>
            </a:r>
            <a:endParaRPr sz="3500">
              <a:latin typeface="Calibri"/>
              <a:cs typeface="Calibri"/>
            </a:endParaRPr>
          </a:p>
          <a:p>
            <a:pPr marL="241300" marR="3115945">
              <a:lnSpc>
                <a:spcPts val="4130"/>
              </a:lnSpc>
              <a:spcBef>
                <a:spcPts val="160"/>
              </a:spcBef>
            </a:pPr>
            <a:r>
              <a:rPr sz="3500" b="0" dirty="0">
                <a:latin typeface="Calibri"/>
                <a:cs typeface="Calibri"/>
              </a:rPr>
              <a:t>Base</a:t>
            </a:r>
            <a:r>
              <a:rPr sz="3500" b="0" spc="-4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Price</a:t>
            </a:r>
            <a:r>
              <a:rPr sz="3500" b="0" spc="-4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–</a:t>
            </a:r>
            <a:r>
              <a:rPr sz="3500" b="0" spc="-4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Entry</a:t>
            </a:r>
            <a:r>
              <a:rPr sz="3500" b="0" spc="-4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price</a:t>
            </a:r>
            <a:r>
              <a:rPr sz="3500" b="0" spc="-4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set</a:t>
            </a:r>
            <a:r>
              <a:rPr sz="3500" b="0" spc="-4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by</a:t>
            </a:r>
            <a:r>
              <a:rPr sz="3500" b="0" spc="-4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the</a:t>
            </a:r>
            <a:r>
              <a:rPr sz="3500" b="0" spc="-45" dirty="0">
                <a:latin typeface="Calibri"/>
                <a:cs typeface="Calibri"/>
              </a:rPr>
              <a:t> </a:t>
            </a:r>
            <a:r>
              <a:rPr sz="3500" b="0" spc="-10" dirty="0">
                <a:latin typeface="Calibri"/>
                <a:cs typeface="Calibri"/>
              </a:rPr>
              <a:t>auction </a:t>
            </a:r>
            <a:r>
              <a:rPr sz="3500" b="0" dirty="0">
                <a:latin typeface="Calibri"/>
                <a:cs typeface="Calibri"/>
              </a:rPr>
              <a:t>Final</a:t>
            </a:r>
            <a:r>
              <a:rPr sz="3500" b="0" spc="-4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Price</a:t>
            </a:r>
            <a:r>
              <a:rPr sz="3500" b="0" spc="-4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–</a:t>
            </a:r>
            <a:r>
              <a:rPr sz="3500" b="0" spc="-4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Actual</a:t>
            </a:r>
            <a:r>
              <a:rPr sz="3500" b="0" spc="-4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auction</a:t>
            </a:r>
            <a:r>
              <a:rPr sz="3500" b="0" spc="-40" dirty="0">
                <a:latin typeface="Calibri"/>
                <a:cs typeface="Calibri"/>
              </a:rPr>
              <a:t> </a:t>
            </a:r>
            <a:r>
              <a:rPr sz="3500" b="0" spc="-10" dirty="0">
                <a:latin typeface="Calibri"/>
                <a:cs typeface="Calibri"/>
              </a:rPr>
              <a:t>value</a:t>
            </a:r>
            <a:endParaRPr sz="3500">
              <a:latin typeface="Calibri"/>
              <a:cs typeface="Calibri"/>
            </a:endParaRPr>
          </a:p>
          <a:p>
            <a:pPr marL="241300">
              <a:lnSpc>
                <a:spcPts val="3954"/>
              </a:lnSpc>
            </a:pPr>
            <a:r>
              <a:rPr sz="3500" b="0" dirty="0">
                <a:latin typeface="Calibri"/>
                <a:cs typeface="Calibri"/>
              </a:rPr>
              <a:t>Price</a:t>
            </a:r>
            <a:r>
              <a:rPr sz="3500" b="0" spc="-7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Increase</a:t>
            </a:r>
            <a:r>
              <a:rPr sz="3500" b="0" spc="-6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–</a:t>
            </a:r>
            <a:r>
              <a:rPr sz="3500" b="0" spc="-6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Auction</a:t>
            </a:r>
            <a:r>
              <a:rPr sz="3500" b="0" spc="-6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premium</a:t>
            </a:r>
            <a:r>
              <a:rPr sz="3500" b="0" spc="-6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(Final</a:t>
            </a:r>
            <a:r>
              <a:rPr sz="3500" b="0" spc="-6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−</a:t>
            </a:r>
            <a:r>
              <a:rPr sz="3500" b="0" spc="-65" dirty="0">
                <a:latin typeface="Calibri"/>
                <a:cs typeface="Calibri"/>
              </a:rPr>
              <a:t> </a:t>
            </a:r>
            <a:r>
              <a:rPr sz="3500" b="0" spc="-10" dirty="0">
                <a:latin typeface="Calibri"/>
                <a:cs typeface="Calibri"/>
              </a:rPr>
              <a:t>Base)</a:t>
            </a:r>
            <a:endParaRPr sz="3500">
              <a:latin typeface="Calibri"/>
              <a:cs typeface="Calibri"/>
            </a:endParaRPr>
          </a:p>
          <a:p>
            <a:pPr marL="241300" marR="5080">
              <a:lnSpc>
                <a:spcPts val="4130"/>
              </a:lnSpc>
              <a:spcBef>
                <a:spcPts val="125"/>
              </a:spcBef>
            </a:pPr>
            <a:r>
              <a:rPr sz="3500" b="0" dirty="0">
                <a:latin typeface="Calibri"/>
                <a:cs typeface="Calibri"/>
              </a:rPr>
              <a:t>T20</a:t>
            </a:r>
            <a:r>
              <a:rPr sz="3500" b="0" spc="-11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Batting</a:t>
            </a:r>
            <a:r>
              <a:rPr sz="3500" b="0" spc="-11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Avg</a:t>
            </a:r>
            <a:r>
              <a:rPr sz="3500" b="0" spc="-10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–</a:t>
            </a:r>
            <a:r>
              <a:rPr sz="3500" b="0" spc="-11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Key</a:t>
            </a:r>
            <a:r>
              <a:rPr sz="3500" b="0" spc="-11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performance</a:t>
            </a:r>
            <a:r>
              <a:rPr sz="3500" b="0" spc="-105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metric</a:t>
            </a:r>
            <a:r>
              <a:rPr sz="3500" b="0" spc="-11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for</a:t>
            </a:r>
            <a:r>
              <a:rPr sz="3500" b="0" spc="-110" dirty="0">
                <a:latin typeface="Calibri"/>
                <a:cs typeface="Calibri"/>
              </a:rPr>
              <a:t> </a:t>
            </a:r>
            <a:r>
              <a:rPr sz="3500" b="0" spc="-10" dirty="0">
                <a:latin typeface="Calibri"/>
                <a:cs typeface="Calibri"/>
              </a:rPr>
              <a:t>batsmen/WK </a:t>
            </a:r>
            <a:r>
              <a:rPr sz="3500" b="0" dirty="0">
                <a:latin typeface="Calibri"/>
                <a:cs typeface="Calibri"/>
              </a:rPr>
              <a:t>T20</a:t>
            </a:r>
            <a:r>
              <a:rPr sz="3500" b="0" spc="-10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Bowling</a:t>
            </a:r>
            <a:r>
              <a:rPr sz="3500" b="0" spc="-10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Avg</a:t>
            </a:r>
            <a:r>
              <a:rPr sz="3500" b="0" spc="-10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–</a:t>
            </a:r>
            <a:r>
              <a:rPr sz="3500" b="0" spc="-10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Key</a:t>
            </a:r>
            <a:r>
              <a:rPr sz="3500" b="0" spc="-10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performance</a:t>
            </a:r>
            <a:r>
              <a:rPr sz="3500" b="0" spc="-10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metric</a:t>
            </a:r>
            <a:r>
              <a:rPr sz="3500" b="0" spc="-100" dirty="0">
                <a:latin typeface="Calibri"/>
                <a:cs typeface="Calibri"/>
              </a:rPr>
              <a:t> </a:t>
            </a:r>
            <a:r>
              <a:rPr sz="3500" b="0" dirty="0">
                <a:latin typeface="Calibri"/>
                <a:cs typeface="Calibri"/>
              </a:rPr>
              <a:t>for</a:t>
            </a:r>
            <a:r>
              <a:rPr sz="3500" b="0" spc="-100" dirty="0">
                <a:latin typeface="Calibri"/>
                <a:cs typeface="Calibri"/>
              </a:rPr>
              <a:t> </a:t>
            </a:r>
            <a:r>
              <a:rPr sz="3500" b="0" spc="-10" dirty="0">
                <a:latin typeface="Calibri"/>
                <a:cs typeface="Calibri"/>
              </a:rPr>
              <a:t>bowlers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54573" y="9450606"/>
            <a:ext cx="42862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1324" y="2452070"/>
            <a:ext cx="16706849" cy="48823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523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sz="6800" spc="-20" dirty="0">
                <a:latin typeface="Calibri"/>
                <a:cs typeface="Calibri"/>
              </a:rPr>
              <a:t>Univariate</a:t>
            </a:r>
            <a:r>
              <a:rPr sz="6800" spc="-285" dirty="0">
                <a:latin typeface="Calibri"/>
                <a:cs typeface="Calibri"/>
              </a:rPr>
              <a:t> </a:t>
            </a:r>
            <a:r>
              <a:rPr sz="6800" spc="-10" dirty="0">
                <a:latin typeface="Calibri"/>
                <a:cs typeface="Calibri"/>
              </a:rPr>
              <a:t>Insights</a:t>
            </a:r>
            <a:endParaRPr sz="6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4719" y="7659502"/>
            <a:ext cx="16200755" cy="111696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34"/>
              </a:spcBef>
            </a:pPr>
            <a:r>
              <a:rPr sz="3600" b="1" spc="-35" dirty="0">
                <a:latin typeface="Calibri"/>
                <a:cs typeface="Calibri"/>
              </a:rPr>
              <a:t>“Auction</a:t>
            </a:r>
            <a:r>
              <a:rPr sz="3600" b="1" spc="-13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data</a:t>
            </a:r>
            <a:r>
              <a:rPr sz="3600" b="1" spc="-13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shows</a:t>
            </a:r>
            <a:r>
              <a:rPr sz="3600" b="1" spc="-13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high</a:t>
            </a:r>
            <a:r>
              <a:rPr sz="3600" b="1" spc="-13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price</a:t>
            </a:r>
            <a:r>
              <a:rPr sz="3600" b="1" spc="-13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outliers</a:t>
            </a:r>
            <a:r>
              <a:rPr sz="3600" b="1" spc="-13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for</a:t>
            </a:r>
            <a:r>
              <a:rPr sz="3600" b="1" spc="-13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elite</a:t>
            </a:r>
            <a:r>
              <a:rPr sz="3600" b="1" spc="-13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players,</a:t>
            </a:r>
            <a:r>
              <a:rPr sz="3600" b="1" spc="-13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uneven</a:t>
            </a:r>
            <a:r>
              <a:rPr sz="3600" b="1" spc="-13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demand</a:t>
            </a:r>
            <a:r>
              <a:rPr sz="3600" b="1" spc="-13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across</a:t>
            </a:r>
            <a:r>
              <a:rPr sz="3600" b="1" spc="-13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roles, </a:t>
            </a:r>
            <a:r>
              <a:rPr sz="3600" b="1" dirty="0">
                <a:latin typeface="Calibri"/>
                <a:cs typeface="Calibri"/>
              </a:rPr>
              <a:t>and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strong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competition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reflected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in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sold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vs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unsold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ratios.”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46047" y="8834156"/>
            <a:ext cx="4838699" cy="10096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627" y="8063318"/>
            <a:ext cx="15370175" cy="173863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20"/>
              </a:lnSpc>
              <a:spcBef>
                <a:spcPts val="240"/>
              </a:spcBef>
            </a:pPr>
            <a:r>
              <a:rPr sz="3200" b="1" spc="-25" dirty="0">
                <a:latin typeface="Calibri"/>
                <a:cs typeface="Calibri"/>
              </a:rPr>
              <a:t>“Auction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prices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are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influenced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by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player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role,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base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price,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franchise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35" dirty="0">
                <a:latin typeface="Calibri"/>
                <a:cs typeface="Calibri"/>
              </a:rPr>
              <a:t>strategy,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nationality, </a:t>
            </a:r>
            <a:r>
              <a:rPr sz="3200" b="1" dirty="0">
                <a:latin typeface="Calibri"/>
                <a:cs typeface="Calibri"/>
              </a:rPr>
              <a:t>revealing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clear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patterns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in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selection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spending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behavior.”</a:t>
            </a:r>
            <a:endParaRPr sz="3200">
              <a:latin typeface="Calibri"/>
              <a:cs typeface="Calibri"/>
            </a:endParaRPr>
          </a:p>
          <a:p>
            <a:pPr marR="2776855" algn="r">
              <a:lnSpc>
                <a:spcPct val="100000"/>
              </a:lnSpc>
              <a:spcBef>
                <a:spcPts val="2465"/>
              </a:spcBef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9539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dirty="0"/>
              <a:t>Bivariate </a:t>
            </a:r>
            <a:r>
              <a:rPr spc="-10" dirty="0"/>
              <a:t>Insights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188" y="2223086"/>
            <a:ext cx="7448838" cy="5225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28813" y="2214193"/>
            <a:ext cx="8553449" cy="50782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684" y="1236824"/>
            <a:ext cx="8143874" cy="5572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9061" y="1236824"/>
            <a:ext cx="8509812" cy="51449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26517" y="8753537"/>
            <a:ext cx="4838699" cy="1009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0984" y="7280834"/>
            <a:ext cx="16510000" cy="10579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229"/>
              </a:spcBef>
            </a:pPr>
            <a:r>
              <a:rPr sz="3400" b="1" dirty="0">
                <a:latin typeface="Calibri"/>
                <a:cs typeface="Calibri"/>
              </a:rPr>
              <a:t>“Final</a:t>
            </a:r>
            <a:r>
              <a:rPr sz="3400" b="1" spc="-10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auction</a:t>
            </a:r>
            <a:r>
              <a:rPr sz="3400" b="1" spc="-10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prices</a:t>
            </a:r>
            <a:r>
              <a:rPr sz="3400" b="1" spc="-100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generally</a:t>
            </a:r>
            <a:r>
              <a:rPr sz="3400" b="1" spc="-10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rise</a:t>
            </a:r>
            <a:r>
              <a:rPr sz="3400" b="1" spc="-10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with</a:t>
            </a:r>
            <a:r>
              <a:rPr sz="3400" b="1" spc="-9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higher</a:t>
            </a:r>
            <a:r>
              <a:rPr sz="3400" b="1" spc="-10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base</a:t>
            </a:r>
            <a:r>
              <a:rPr sz="3400" b="1" spc="-10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prices,</a:t>
            </a:r>
            <a:r>
              <a:rPr sz="3400" b="1" spc="-10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and</a:t>
            </a:r>
            <a:r>
              <a:rPr sz="3400" b="1" spc="-100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overseas</a:t>
            </a:r>
            <a:r>
              <a:rPr sz="3400" b="1" spc="-9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players</a:t>
            </a:r>
            <a:r>
              <a:rPr sz="3400" b="1" spc="-10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show</a:t>
            </a:r>
            <a:r>
              <a:rPr sz="3400" b="1" spc="-100" dirty="0">
                <a:latin typeface="Calibri"/>
                <a:cs typeface="Calibri"/>
              </a:rPr>
              <a:t> </a:t>
            </a:r>
            <a:r>
              <a:rPr sz="3400" b="1" spc="-20" dirty="0">
                <a:latin typeface="Calibri"/>
                <a:cs typeface="Calibri"/>
              </a:rPr>
              <a:t>wider </a:t>
            </a:r>
            <a:r>
              <a:rPr sz="3400" b="1" dirty="0">
                <a:latin typeface="Calibri"/>
                <a:cs typeface="Calibri"/>
              </a:rPr>
              <a:t>and</a:t>
            </a:r>
            <a:r>
              <a:rPr sz="3400" b="1" spc="-9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higher</a:t>
            </a:r>
            <a:r>
              <a:rPr sz="3400" b="1" spc="-9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price</a:t>
            </a:r>
            <a:r>
              <a:rPr sz="3400" b="1" spc="-90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distributions</a:t>
            </a:r>
            <a:r>
              <a:rPr sz="3400" b="1" spc="-95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compared</a:t>
            </a:r>
            <a:r>
              <a:rPr sz="3400" b="1" spc="-9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to</a:t>
            </a:r>
            <a:r>
              <a:rPr sz="3400" b="1" spc="-9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Indian</a:t>
            </a:r>
            <a:r>
              <a:rPr sz="3400" b="1" spc="-9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players.”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1041" y="7847919"/>
            <a:ext cx="16852900" cy="195389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35"/>
              </a:spcBef>
            </a:pPr>
            <a:r>
              <a:rPr sz="3200" b="1" spc="-50" dirty="0">
                <a:latin typeface="Calibri"/>
                <a:cs typeface="Calibri"/>
              </a:rPr>
              <a:t>“Average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auction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prices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vary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by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role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country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across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years,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with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WK-</a:t>
            </a:r>
            <a:r>
              <a:rPr sz="3200" b="1" spc="-10" dirty="0">
                <a:latin typeface="Calibri"/>
                <a:cs typeface="Calibri"/>
              </a:rPr>
              <a:t>Batters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overseas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players consistently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attracting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higher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valuations.”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3200">
              <a:latin typeface="Calibri"/>
              <a:cs typeface="Calibri"/>
            </a:endParaRPr>
          </a:p>
          <a:p>
            <a:pPr marR="4095115" algn="r">
              <a:lnSpc>
                <a:spcPct val="100000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21041" y="-75358"/>
            <a:ext cx="75926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Multivariate</a:t>
            </a:r>
            <a:r>
              <a:rPr spc="-360" dirty="0"/>
              <a:t> </a:t>
            </a:r>
            <a:r>
              <a:rPr spc="-10" dirty="0"/>
              <a:t>Insights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921" y="1987810"/>
            <a:ext cx="7619580" cy="52661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99955" y="1673227"/>
            <a:ext cx="8015517" cy="54667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4147" y="623231"/>
            <a:ext cx="14345542" cy="68045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67273" y="9111005"/>
            <a:ext cx="4838699" cy="10096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6000" y="7819493"/>
            <a:ext cx="16182975" cy="9988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4"/>
              </a:spcBef>
            </a:pPr>
            <a:r>
              <a:rPr sz="3200" b="1" spc="-10" dirty="0">
                <a:latin typeface="Calibri"/>
                <a:cs typeface="Calibri"/>
              </a:rPr>
              <a:t>“Players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with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higher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T20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batting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averages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more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40+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scores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tend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to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command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higher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auction </a:t>
            </a:r>
            <a:r>
              <a:rPr sz="3200" b="1" dirty="0">
                <a:latin typeface="Calibri"/>
                <a:cs typeface="Calibri"/>
              </a:rPr>
              <a:t>prices,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with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overseas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players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showing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stronger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price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premium.”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6540" y="1691710"/>
            <a:ext cx="8982074" cy="58673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53256" y="481076"/>
            <a:ext cx="552831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dirty="0">
                <a:solidFill>
                  <a:srgbClr val="E42328"/>
                </a:solidFill>
                <a:latin typeface="Calibri"/>
                <a:cs typeface="Calibri"/>
              </a:rPr>
              <a:t>Hypothesis</a:t>
            </a:r>
            <a:r>
              <a:rPr sz="5600" spc="-190" dirty="0">
                <a:solidFill>
                  <a:srgbClr val="E42328"/>
                </a:solidFill>
                <a:latin typeface="Calibri"/>
                <a:cs typeface="Calibri"/>
              </a:rPr>
              <a:t> </a:t>
            </a:r>
            <a:r>
              <a:rPr sz="5600" spc="-50" dirty="0">
                <a:solidFill>
                  <a:srgbClr val="E42328"/>
                </a:solidFill>
                <a:latin typeface="Calibri"/>
                <a:cs typeface="Calibri"/>
              </a:rPr>
              <a:t>Testing</a:t>
            </a:r>
            <a:endParaRPr sz="5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7145" y="2180305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51823" y="1869186"/>
            <a:ext cx="13646785" cy="72053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06680" marR="7815580" algn="ctr">
              <a:lnSpc>
                <a:spcPts val="4430"/>
              </a:lnSpc>
              <a:spcBef>
                <a:spcPts val="254"/>
              </a:spcBef>
            </a:pPr>
            <a:r>
              <a:rPr sz="3700" spc="-20" dirty="0">
                <a:solidFill>
                  <a:srgbClr val="111111"/>
                </a:solidFill>
                <a:latin typeface="Calibri"/>
                <a:cs typeface="Calibri"/>
              </a:rPr>
              <a:t>one-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sample,</a:t>
            </a:r>
            <a:r>
              <a:rPr sz="3700" spc="-7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spc="-25" dirty="0">
                <a:solidFill>
                  <a:srgbClr val="111111"/>
                </a:solidFill>
                <a:latin typeface="Calibri"/>
                <a:cs typeface="Calibri"/>
              </a:rPr>
              <a:t>two-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tailed</a:t>
            </a:r>
            <a:r>
              <a:rPr sz="3700" spc="-7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spc="-65" dirty="0">
                <a:solidFill>
                  <a:srgbClr val="111111"/>
                </a:solidFill>
                <a:latin typeface="Calibri"/>
                <a:cs typeface="Calibri"/>
              </a:rPr>
              <a:t>Z-</a:t>
            </a:r>
            <a:r>
              <a:rPr sz="3700" spc="-20" dirty="0">
                <a:solidFill>
                  <a:srgbClr val="111111"/>
                </a:solidFill>
                <a:latin typeface="Calibri"/>
                <a:cs typeface="Calibri"/>
              </a:rPr>
              <a:t>test 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was</a:t>
            </a:r>
            <a:r>
              <a:rPr sz="3700" spc="-9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conducted</a:t>
            </a:r>
            <a:r>
              <a:rPr sz="3700" spc="-9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on</a:t>
            </a:r>
            <a:r>
              <a:rPr sz="3700" spc="-9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the</a:t>
            </a:r>
            <a:r>
              <a:rPr sz="3700" spc="-9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spc="-10" dirty="0">
                <a:solidFill>
                  <a:srgbClr val="111111"/>
                </a:solidFill>
                <a:latin typeface="Calibri"/>
                <a:cs typeface="Calibri"/>
              </a:rPr>
              <a:t>final 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prices</a:t>
            </a:r>
            <a:r>
              <a:rPr sz="3700" spc="-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of</a:t>
            </a:r>
            <a:r>
              <a:rPr sz="3700" spc="-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sold</a:t>
            </a:r>
            <a:r>
              <a:rPr sz="3700" spc="-5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spc="-20" dirty="0">
                <a:solidFill>
                  <a:srgbClr val="111111"/>
                </a:solidFill>
                <a:latin typeface="Calibri"/>
                <a:cs typeface="Calibri"/>
              </a:rPr>
              <a:t>players</a:t>
            </a:r>
            <a:r>
              <a:rPr sz="3700" spc="-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at</a:t>
            </a:r>
            <a:r>
              <a:rPr sz="3700" spc="-5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a</a:t>
            </a:r>
            <a:r>
              <a:rPr sz="3700" spc="-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spc="-25" dirty="0">
                <a:solidFill>
                  <a:srgbClr val="111111"/>
                </a:solidFill>
                <a:latin typeface="Calibri"/>
                <a:cs typeface="Calibri"/>
              </a:rPr>
              <a:t>95% </a:t>
            </a:r>
            <a:r>
              <a:rPr sz="3700" dirty="0">
                <a:solidFill>
                  <a:srgbClr val="111111"/>
                </a:solidFill>
                <a:latin typeface="Calibri"/>
                <a:cs typeface="Calibri"/>
              </a:rPr>
              <a:t>confidence</a:t>
            </a:r>
            <a:r>
              <a:rPr sz="3700" spc="-1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700" spc="-10" dirty="0">
                <a:solidFill>
                  <a:srgbClr val="111111"/>
                </a:solidFill>
                <a:latin typeface="Calibri"/>
                <a:cs typeface="Calibri"/>
              </a:rPr>
              <a:t>level.</a:t>
            </a:r>
            <a:endParaRPr sz="3700">
              <a:latin typeface="Calibri"/>
              <a:cs typeface="Calibri"/>
            </a:endParaRPr>
          </a:p>
          <a:p>
            <a:pPr marL="12700" marR="7705090" algn="ctr">
              <a:lnSpc>
                <a:spcPct val="100000"/>
              </a:lnSpc>
              <a:spcBef>
                <a:spcPts val="1835"/>
              </a:spcBef>
            </a:pPr>
            <a:r>
              <a:rPr sz="3750" dirty="0">
                <a:latin typeface="Calibri"/>
                <a:cs typeface="Calibri"/>
              </a:rPr>
              <a:t>The</a:t>
            </a:r>
            <a:r>
              <a:rPr sz="3750" spc="-10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null</a:t>
            </a:r>
            <a:r>
              <a:rPr sz="3750" spc="-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hypothesis</a:t>
            </a:r>
            <a:r>
              <a:rPr sz="3750" spc="-5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assumed </a:t>
            </a:r>
            <a:r>
              <a:rPr sz="3750" dirty="0">
                <a:latin typeface="Calibri"/>
                <a:cs typeface="Calibri"/>
              </a:rPr>
              <a:t>the</a:t>
            </a:r>
            <a:r>
              <a:rPr sz="3750" spc="-2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average</a:t>
            </a:r>
            <a:r>
              <a:rPr sz="3750" spc="-2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final</a:t>
            </a:r>
            <a:r>
              <a:rPr sz="3750" spc="-2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price</a:t>
            </a:r>
            <a:r>
              <a:rPr sz="3750" spc="-2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is</a:t>
            </a:r>
            <a:r>
              <a:rPr sz="3750" spc="-25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₹5</a:t>
            </a:r>
            <a:r>
              <a:rPr sz="3750" spc="-25" dirty="0">
                <a:latin typeface="Calibri"/>
                <a:cs typeface="Calibri"/>
              </a:rPr>
              <a:t> </a:t>
            </a:r>
            <a:r>
              <a:rPr sz="3750" spc="-70" dirty="0">
                <a:latin typeface="Calibri"/>
                <a:cs typeface="Calibri"/>
              </a:rPr>
              <a:t>Cr.</a:t>
            </a:r>
            <a:endParaRPr sz="3750">
              <a:latin typeface="Calibri"/>
              <a:cs typeface="Calibri"/>
            </a:endParaRPr>
          </a:p>
          <a:p>
            <a:pPr marL="105410" marR="7813040" algn="ctr">
              <a:lnSpc>
                <a:spcPts val="4430"/>
              </a:lnSpc>
              <a:spcBef>
                <a:spcPts val="3415"/>
              </a:spcBef>
            </a:pPr>
            <a:r>
              <a:rPr sz="3700" dirty="0">
                <a:latin typeface="Calibri"/>
                <a:cs typeface="Calibri"/>
              </a:rPr>
              <a:t>The</a:t>
            </a:r>
            <a:r>
              <a:rPr sz="3700" spc="-7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test</a:t>
            </a:r>
            <a:r>
              <a:rPr sz="3700" spc="-7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statistic</a:t>
            </a:r>
            <a:r>
              <a:rPr sz="3700" spc="-7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did</a:t>
            </a:r>
            <a:r>
              <a:rPr sz="3700" spc="-7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not</a:t>
            </a:r>
            <a:r>
              <a:rPr sz="3700" spc="-7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fall</a:t>
            </a:r>
            <a:r>
              <a:rPr sz="3700" spc="-75" dirty="0">
                <a:latin typeface="Calibri"/>
                <a:cs typeface="Calibri"/>
              </a:rPr>
              <a:t> </a:t>
            </a:r>
            <a:r>
              <a:rPr sz="3700" spc="-25" dirty="0">
                <a:latin typeface="Calibri"/>
                <a:cs typeface="Calibri"/>
              </a:rPr>
              <a:t>in </a:t>
            </a:r>
            <a:r>
              <a:rPr sz="3700" dirty="0">
                <a:latin typeface="Calibri"/>
                <a:cs typeface="Calibri"/>
              </a:rPr>
              <a:t>the</a:t>
            </a:r>
            <a:r>
              <a:rPr sz="3700" spc="-7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rejection</a:t>
            </a:r>
            <a:r>
              <a:rPr sz="3700" spc="-70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region.</a:t>
            </a:r>
            <a:endParaRPr sz="3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3700">
              <a:latin typeface="Calibri"/>
              <a:cs typeface="Calibri"/>
            </a:endParaRPr>
          </a:p>
          <a:p>
            <a:pPr marL="67945">
              <a:lnSpc>
                <a:spcPct val="100000"/>
              </a:lnSpc>
            </a:pPr>
            <a:r>
              <a:rPr sz="3500" dirty="0">
                <a:latin typeface="Calibri"/>
                <a:cs typeface="Calibri"/>
              </a:rPr>
              <a:t>Hence,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we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failed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to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reject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the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null</a:t>
            </a:r>
            <a:r>
              <a:rPr sz="3500" spc="-7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hypothesis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(H₀).</a:t>
            </a:r>
            <a:endParaRPr sz="3500">
              <a:latin typeface="Calibri"/>
              <a:cs typeface="Calibri"/>
            </a:endParaRPr>
          </a:p>
          <a:p>
            <a:pPr marL="71755">
              <a:lnSpc>
                <a:spcPct val="100000"/>
              </a:lnSpc>
              <a:spcBef>
                <a:spcPts val="1950"/>
              </a:spcBef>
            </a:pPr>
            <a:r>
              <a:rPr sz="3500" dirty="0">
                <a:latin typeface="Calibri"/>
                <a:cs typeface="Calibri"/>
              </a:rPr>
              <a:t>This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indicates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the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average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sold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price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is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not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significantly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different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from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₹5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25" dirty="0">
                <a:latin typeface="Calibri"/>
                <a:cs typeface="Calibri"/>
              </a:rPr>
              <a:t>Cr.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6670" y="4680617"/>
            <a:ext cx="123825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145" y="6240822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9045" y="8029626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9045" y="8810676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73174" y="9258300"/>
            <a:ext cx="4133849" cy="8667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73174" y="9258300"/>
            <a:ext cx="4133849" cy="8667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1912" y="189568"/>
            <a:ext cx="857948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dirty="0">
                <a:latin typeface="Calibri"/>
                <a:cs typeface="Calibri"/>
              </a:rPr>
              <a:t>Key</a:t>
            </a:r>
            <a:r>
              <a:rPr sz="4700" spc="-125" dirty="0">
                <a:latin typeface="Calibri"/>
                <a:cs typeface="Calibri"/>
              </a:rPr>
              <a:t> </a:t>
            </a:r>
            <a:r>
              <a:rPr sz="4700" dirty="0">
                <a:latin typeface="Calibri"/>
                <a:cs typeface="Calibri"/>
              </a:rPr>
              <a:t>Insights</a:t>
            </a:r>
            <a:r>
              <a:rPr sz="4700" spc="-135" dirty="0">
                <a:latin typeface="Calibri"/>
                <a:cs typeface="Calibri"/>
              </a:rPr>
              <a:t> </a:t>
            </a:r>
            <a:r>
              <a:rPr sz="4700" dirty="0">
                <a:latin typeface="Calibri"/>
                <a:cs typeface="Calibri"/>
              </a:rPr>
              <a:t>&amp;</a:t>
            </a:r>
            <a:r>
              <a:rPr sz="4700" spc="-120" dirty="0">
                <a:latin typeface="Calibri"/>
                <a:cs typeface="Calibri"/>
              </a:rPr>
              <a:t> </a:t>
            </a:r>
            <a:r>
              <a:rPr sz="4700" spc="-20" dirty="0">
                <a:latin typeface="Calibri"/>
                <a:cs typeface="Calibri"/>
              </a:rPr>
              <a:t>Recommendations</a:t>
            </a:r>
            <a:r>
              <a:rPr sz="4700" spc="-135" dirty="0">
                <a:latin typeface="Calibri"/>
                <a:cs typeface="Calibri"/>
              </a:rPr>
              <a:t> </a:t>
            </a:r>
            <a:r>
              <a:rPr sz="4700" spc="-50" dirty="0">
                <a:latin typeface="Calibri"/>
                <a:cs typeface="Calibri"/>
              </a:rPr>
              <a:t>:</a:t>
            </a:r>
            <a:endParaRPr sz="4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1912" y="1430961"/>
            <a:ext cx="17480915" cy="806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E42328"/>
                </a:solidFill>
                <a:latin typeface="Calibri"/>
                <a:cs typeface="Calibri"/>
              </a:rPr>
              <a:t>Key</a:t>
            </a:r>
            <a:r>
              <a:rPr sz="4000" b="1" spc="-140" dirty="0">
                <a:solidFill>
                  <a:srgbClr val="E42328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E42328"/>
                </a:solidFill>
                <a:latin typeface="Calibri"/>
                <a:cs typeface="Calibri"/>
              </a:rPr>
              <a:t>Insights:</a:t>
            </a:r>
            <a:endParaRPr sz="4000">
              <a:latin typeface="Calibri"/>
              <a:cs typeface="Calibri"/>
            </a:endParaRPr>
          </a:p>
          <a:p>
            <a:pPr marL="12700" marR="5080" indent="511175">
              <a:lnSpc>
                <a:spcPts val="4130"/>
              </a:lnSpc>
              <a:spcBef>
                <a:spcPts val="245"/>
              </a:spcBef>
              <a:buFont typeface="Segoe UI Symbol"/>
              <a:buChar char="➢"/>
              <a:tabLst>
                <a:tab pos="523875" algn="l"/>
              </a:tabLst>
            </a:pPr>
            <a:r>
              <a:rPr sz="3500" dirty="0">
                <a:latin typeface="Calibri"/>
                <a:cs typeface="Calibri"/>
              </a:rPr>
              <a:t>The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sold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ratio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of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Indian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players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declined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from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2025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to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2026,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showing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tougher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competition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25" dirty="0">
                <a:latin typeface="Calibri"/>
                <a:cs typeface="Calibri"/>
              </a:rPr>
              <a:t>and </a:t>
            </a:r>
            <a:r>
              <a:rPr sz="3500" dirty="0">
                <a:latin typeface="Calibri"/>
                <a:cs typeface="Calibri"/>
              </a:rPr>
              <a:t>more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selective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buying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by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teams.</a:t>
            </a:r>
            <a:endParaRPr sz="3500">
              <a:latin typeface="Calibri"/>
              <a:cs typeface="Calibri"/>
            </a:endParaRPr>
          </a:p>
          <a:p>
            <a:pPr marL="523875" indent="-511175">
              <a:lnSpc>
                <a:spcPts val="3954"/>
              </a:lnSpc>
              <a:buFont typeface="Segoe UI Symbol"/>
              <a:buChar char="➢"/>
              <a:tabLst>
                <a:tab pos="523875" algn="l"/>
              </a:tabLst>
            </a:pPr>
            <a:r>
              <a:rPr sz="3500" dirty="0">
                <a:latin typeface="Calibri"/>
                <a:cs typeface="Calibri"/>
              </a:rPr>
              <a:t>New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players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should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focus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on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spc="-20" dirty="0">
                <a:latin typeface="Calibri"/>
                <a:cs typeface="Calibri"/>
              </a:rPr>
              <a:t>multi-</a:t>
            </a:r>
            <a:r>
              <a:rPr sz="3500" dirty="0">
                <a:latin typeface="Calibri"/>
                <a:cs typeface="Calibri"/>
              </a:rPr>
              <a:t>skill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ability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and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consistency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to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improve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their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chances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spc="-25" dirty="0">
                <a:latin typeface="Calibri"/>
                <a:cs typeface="Calibri"/>
              </a:rPr>
              <a:t>of</a:t>
            </a:r>
            <a:endParaRPr sz="3500">
              <a:latin typeface="Calibri"/>
              <a:cs typeface="Calibri"/>
            </a:endParaRPr>
          </a:p>
          <a:p>
            <a:pPr marL="12700">
              <a:lnSpc>
                <a:spcPts val="4125"/>
              </a:lnSpc>
            </a:pPr>
            <a:r>
              <a:rPr sz="3500" dirty="0">
                <a:latin typeface="Calibri"/>
                <a:cs typeface="Calibri"/>
              </a:rPr>
              <a:t>getting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sold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IPL</a:t>
            </a:r>
            <a:r>
              <a:rPr sz="3500" spc="-7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auctions.</a:t>
            </a:r>
            <a:endParaRPr sz="3500">
              <a:latin typeface="Calibri"/>
              <a:cs typeface="Calibri"/>
            </a:endParaRPr>
          </a:p>
          <a:p>
            <a:pPr marL="523875" indent="-511175">
              <a:lnSpc>
                <a:spcPts val="4125"/>
              </a:lnSpc>
              <a:buFont typeface="Segoe UI Symbol"/>
              <a:buChar char="➢"/>
              <a:tabLst>
                <a:tab pos="523875" algn="l"/>
              </a:tabLst>
            </a:pPr>
            <a:r>
              <a:rPr sz="3500" spc="-10" dirty="0">
                <a:latin typeface="Calibri"/>
                <a:cs typeface="Calibri"/>
              </a:rPr>
              <a:t>All-rounders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and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50" dirty="0">
                <a:latin typeface="Calibri"/>
                <a:cs typeface="Calibri"/>
              </a:rPr>
              <a:t>wicket-</a:t>
            </a:r>
            <a:r>
              <a:rPr sz="3500" spc="-10" dirty="0">
                <a:latin typeface="Calibri"/>
                <a:cs typeface="Calibri"/>
              </a:rPr>
              <a:t>keepers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attract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higher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average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prices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than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specialists</a:t>
            </a:r>
            <a:endParaRPr sz="3500">
              <a:latin typeface="Calibri"/>
              <a:cs typeface="Calibri"/>
            </a:endParaRPr>
          </a:p>
          <a:p>
            <a:pPr marL="523875" indent="-511175">
              <a:lnSpc>
                <a:spcPts val="4125"/>
              </a:lnSpc>
              <a:buFont typeface="Segoe UI Symbol"/>
              <a:buChar char="➢"/>
              <a:tabLst>
                <a:tab pos="523875" algn="l"/>
              </a:tabLst>
            </a:pPr>
            <a:r>
              <a:rPr sz="3500" spc="-60" dirty="0">
                <a:latin typeface="Calibri"/>
                <a:cs typeface="Calibri"/>
              </a:rPr>
              <a:t>Team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spending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patterns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vary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significantly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across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seasons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(2025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vs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2026)</a:t>
            </a:r>
            <a:endParaRPr sz="3500">
              <a:latin typeface="Calibri"/>
              <a:cs typeface="Calibri"/>
            </a:endParaRPr>
          </a:p>
          <a:p>
            <a:pPr marL="523875" indent="-511175">
              <a:lnSpc>
                <a:spcPts val="4065"/>
              </a:lnSpc>
              <a:buFont typeface="Segoe UI Symbol"/>
              <a:buChar char="➢"/>
              <a:tabLst>
                <a:tab pos="523875" algn="l"/>
              </a:tabLst>
            </a:pPr>
            <a:r>
              <a:rPr sz="3500" dirty="0">
                <a:latin typeface="Calibri"/>
                <a:cs typeface="Calibri"/>
              </a:rPr>
              <a:t>Several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players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are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sold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close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to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their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base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price,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indicating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limited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bidding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competition</a:t>
            </a:r>
            <a:endParaRPr sz="3500">
              <a:latin typeface="Calibri"/>
              <a:cs typeface="Calibri"/>
            </a:endParaRPr>
          </a:p>
          <a:p>
            <a:pPr marL="12700">
              <a:lnSpc>
                <a:spcPts val="4700"/>
              </a:lnSpc>
            </a:pPr>
            <a:r>
              <a:rPr sz="4000" b="1" spc="-10" dirty="0">
                <a:solidFill>
                  <a:srgbClr val="E42328"/>
                </a:solidFill>
                <a:latin typeface="Calibri"/>
                <a:cs typeface="Calibri"/>
              </a:rPr>
              <a:t>Recommendations:</a:t>
            </a:r>
            <a:endParaRPr sz="4000">
              <a:latin typeface="Calibri"/>
              <a:cs typeface="Calibri"/>
            </a:endParaRPr>
          </a:p>
          <a:p>
            <a:pPr marL="523875" indent="-511175">
              <a:lnSpc>
                <a:spcPts val="4160"/>
              </a:lnSpc>
              <a:spcBef>
                <a:spcPts val="50"/>
              </a:spcBef>
              <a:buFont typeface="Segoe UI Symbol"/>
              <a:buChar char="➢"/>
              <a:tabLst>
                <a:tab pos="523875" algn="l"/>
              </a:tabLst>
            </a:pPr>
            <a:r>
              <a:rPr sz="3500" spc="-45" dirty="0">
                <a:latin typeface="Calibri"/>
                <a:cs typeface="Calibri"/>
              </a:rPr>
              <a:t>Teams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should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invest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more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20" dirty="0">
                <a:latin typeface="Calibri"/>
                <a:cs typeface="Calibri"/>
              </a:rPr>
              <a:t>high-</a:t>
            </a:r>
            <a:r>
              <a:rPr sz="3500" dirty="0">
                <a:latin typeface="Calibri"/>
                <a:cs typeface="Calibri"/>
              </a:rPr>
              <a:t>impact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Indian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players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to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ensure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squad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stability</a:t>
            </a:r>
            <a:endParaRPr sz="3500">
              <a:latin typeface="Calibri"/>
              <a:cs typeface="Calibri"/>
            </a:endParaRPr>
          </a:p>
          <a:p>
            <a:pPr marL="523875" indent="-511175">
              <a:lnSpc>
                <a:spcPts val="4125"/>
              </a:lnSpc>
              <a:buFont typeface="Segoe UI Symbol"/>
              <a:buChar char="➢"/>
              <a:tabLst>
                <a:tab pos="523875" algn="l"/>
              </a:tabLst>
            </a:pPr>
            <a:r>
              <a:rPr sz="3500" dirty="0">
                <a:latin typeface="Calibri"/>
                <a:cs typeface="Calibri"/>
              </a:rPr>
              <a:t>Allocate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higher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budgets</a:t>
            </a:r>
            <a:r>
              <a:rPr sz="3500" spc="-10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for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spc="-20" dirty="0">
                <a:latin typeface="Calibri"/>
                <a:cs typeface="Calibri"/>
              </a:rPr>
              <a:t>multi-</a:t>
            </a:r>
            <a:r>
              <a:rPr sz="3500" dirty="0">
                <a:latin typeface="Calibri"/>
                <a:cs typeface="Calibri"/>
              </a:rPr>
              <a:t>skill</a:t>
            </a:r>
            <a:r>
              <a:rPr sz="3500" spc="-10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players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(all-rounders,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spc="-35" dirty="0">
                <a:latin typeface="Calibri"/>
                <a:cs typeface="Calibri"/>
              </a:rPr>
              <a:t>WK-</a:t>
            </a:r>
            <a:r>
              <a:rPr sz="3500" spc="-10" dirty="0">
                <a:latin typeface="Calibri"/>
                <a:cs typeface="Calibri"/>
              </a:rPr>
              <a:t>batsmen)</a:t>
            </a:r>
            <a:endParaRPr sz="3500">
              <a:latin typeface="Calibri"/>
              <a:cs typeface="Calibri"/>
            </a:endParaRPr>
          </a:p>
          <a:p>
            <a:pPr marL="523875" indent="-511175">
              <a:lnSpc>
                <a:spcPts val="4125"/>
              </a:lnSpc>
              <a:buFont typeface="Segoe UI Symbol"/>
              <a:buChar char="➢"/>
              <a:tabLst>
                <a:tab pos="523875" algn="l"/>
              </a:tabLst>
            </a:pPr>
            <a:r>
              <a:rPr sz="3500" dirty="0">
                <a:latin typeface="Calibri"/>
                <a:cs typeface="Calibri"/>
              </a:rPr>
              <a:t>Use</a:t>
            </a:r>
            <a:r>
              <a:rPr sz="3500" spc="-100" dirty="0">
                <a:latin typeface="Calibri"/>
                <a:cs typeface="Calibri"/>
              </a:rPr>
              <a:t> </a:t>
            </a:r>
            <a:r>
              <a:rPr sz="3500" spc="-30" dirty="0">
                <a:latin typeface="Calibri"/>
                <a:cs typeface="Calibri"/>
              </a:rPr>
              <a:t>data-</a:t>
            </a:r>
            <a:r>
              <a:rPr sz="3500" dirty="0">
                <a:latin typeface="Calibri"/>
                <a:cs typeface="Calibri"/>
              </a:rPr>
              <a:t>driven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budget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allocation</a:t>
            </a:r>
            <a:r>
              <a:rPr sz="3500" spc="-10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to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avoid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overpaying</a:t>
            </a:r>
            <a:r>
              <a:rPr sz="3500" spc="-10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competitive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auctions</a:t>
            </a:r>
            <a:endParaRPr sz="3500">
              <a:latin typeface="Calibri"/>
              <a:cs typeface="Calibri"/>
            </a:endParaRPr>
          </a:p>
          <a:p>
            <a:pPr marL="523875" indent="-511175">
              <a:lnSpc>
                <a:spcPts val="4125"/>
              </a:lnSpc>
              <a:buFont typeface="Segoe UI Symbol"/>
              <a:buChar char="➢"/>
              <a:tabLst>
                <a:tab pos="523875" algn="l"/>
              </a:tabLst>
            </a:pPr>
            <a:r>
              <a:rPr sz="3500" dirty="0">
                <a:latin typeface="Calibri"/>
                <a:cs typeface="Calibri"/>
              </a:rPr>
              <a:t>Monitor</a:t>
            </a:r>
            <a:r>
              <a:rPr sz="3500" spc="-95" dirty="0">
                <a:latin typeface="Calibri"/>
                <a:cs typeface="Calibri"/>
              </a:rPr>
              <a:t> </a:t>
            </a:r>
            <a:r>
              <a:rPr sz="3500" spc="-50" dirty="0">
                <a:latin typeface="Calibri"/>
                <a:cs typeface="Calibri"/>
              </a:rPr>
              <a:t>year-</a:t>
            </a:r>
            <a:r>
              <a:rPr sz="3500" dirty="0">
                <a:latin typeface="Calibri"/>
                <a:cs typeface="Calibri"/>
              </a:rPr>
              <a:t>wise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trends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to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adjust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team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spc="-20" dirty="0">
                <a:latin typeface="Calibri"/>
                <a:cs typeface="Calibri"/>
              </a:rPr>
              <a:t>strategies</a:t>
            </a:r>
            <a:r>
              <a:rPr sz="3500" spc="-8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dynamically</a:t>
            </a:r>
            <a:endParaRPr sz="3500">
              <a:latin typeface="Calibri"/>
              <a:cs typeface="Calibri"/>
            </a:endParaRPr>
          </a:p>
          <a:p>
            <a:pPr marL="12700" marR="180340" indent="511175">
              <a:lnSpc>
                <a:spcPts val="4130"/>
              </a:lnSpc>
              <a:spcBef>
                <a:spcPts val="125"/>
              </a:spcBef>
              <a:buFont typeface="Segoe UI Symbol"/>
              <a:buChar char="➢"/>
              <a:tabLst>
                <a:tab pos="523875" algn="l"/>
              </a:tabLst>
            </a:pPr>
            <a:r>
              <a:rPr sz="3500" spc="-45" dirty="0">
                <a:latin typeface="Calibri"/>
                <a:cs typeface="Calibri"/>
              </a:rPr>
              <a:t>Teams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should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focus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on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targeted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Indian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player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selection</a:t>
            </a:r>
            <a:r>
              <a:rPr sz="3500" spc="-10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and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improve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domestic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talent</a:t>
            </a:r>
            <a:r>
              <a:rPr sz="3500" spc="-110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scouting </a:t>
            </a:r>
            <a:r>
              <a:rPr sz="3500" dirty="0">
                <a:latin typeface="Calibri"/>
                <a:cs typeface="Calibri"/>
              </a:rPr>
              <a:t>to</a:t>
            </a:r>
            <a:r>
              <a:rPr sz="3500" spc="-90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sustain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dirty="0">
                <a:latin typeface="Calibri"/>
                <a:cs typeface="Calibri"/>
              </a:rPr>
              <a:t>squad</a:t>
            </a:r>
            <a:r>
              <a:rPr sz="3500" spc="-85" dirty="0">
                <a:latin typeface="Calibri"/>
                <a:cs typeface="Calibri"/>
              </a:rPr>
              <a:t> </a:t>
            </a:r>
            <a:r>
              <a:rPr sz="3500" spc="-10" dirty="0">
                <a:latin typeface="Calibri"/>
                <a:cs typeface="Calibri"/>
              </a:rPr>
              <a:t>strength.</a:t>
            </a:r>
            <a:endParaRPr sz="3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44599" y="963612"/>
            <a:ext cx="403161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2349" y="2783681"/>
            <a:ext cx="133349" cy="1333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32755" y="2440844"/>
            <a:ext cx="15707994" cy="25076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just">
              <a:lnSpc>
                <a:spcPts val="4880"/>
              </a:lnSpc>
              <a:spcBef>
                <a:spcPts val="225"/>
              </a:spcBef>
            </a:pPr>
            <a:r>
              <a:rPr sz="4100" dirty="0">
                <a:latin typeface="Calibri"/>
                <a:cs typeface="Calibri"/>
              </a:rPr>
              <a:t>The</a:t>
            </a:r>
            <a:r>
              <a:rPr sz="4100" spc="475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IPL</a:t>
            </a:r>
            <a:r>
              <a:rPr sz="4100" spc="48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Auction</a:t>
            </a:r>
            <a:r>
              <a:rPr sz="4100" spc="480" dirty="0">
                <a:latin typeface="Calibri"/>
                <a:cs typeface="Calibri"/>
              </a:rPr>
              <a:t> </a:t>
            </a:r>
            <a:r>
              <a:rPr sz="4100" spc="-10" dirty="0">
                <a:latin typeface="Calibri"/>
                <a:cs typeface="Calibri"/>
              </a:rPr>
              <a:t>2025-</a:t>
            </a:r>
            <a:r>
              <a:rPr sz="4100" dirty="0">
                <a:latin typeface="Calibri"/>
                <a:cs typeface="Calibri"/>
              </a:rPr>
              <a:t>2026</a:t>
            </a:r>
            <a:r>
              <a:rPr sz="4100" spc="48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shows</a:t>
            </a:r>
            <a:r>
              <a:rPr sz="4100" spc="48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that</a:t>
            </a:r>
            <a:r>
              <a:rPr sz="4100" spc="48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auctions</a:t>
            </a:r>
            <a:r>
              <a:rPr sz="4100" spc="48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are</a:t>
            </a:r>
            <a:r>
              <a:rPr sz="4100" spc="480" dirty="0">
                <a:latin typeface="Calibri"/>
                <a:cs typeface="Calibri"/>
              </a:rPr>
              <a:t> </a:t>
            </a:r>
            <a:r>
              <a:rPr sz="4100" spc="-25" dirty="0">
                <a:latin typeface="Calibri"/>
                <a:cs typeface="Calibri"/>
              </a:rPr>
              <a:t>performance-</a:t>
            </a:r>
            <a:r>
              <a:rPr sz="4100" spc="-10" dirty="0">
                <a:latin typeface="Calibri"/>
                <a:cs typeface="Calibri"/>
              </a:rPr>
              <a:t>driven </a:t>
            </a:r>
            <a:r>
              <a:rPr sz="4100" dirty="0">
                <a:latin typeface="Calibri"/>
                <a:cs typeface="Calibri"/>
              </a:rPr>
              <a:t>and</a:t>
            </a:r>
            <a:r>
              <a:rPr sz="4100" spc="490" dirty="0">
                <a:latin typeface="Calibri"/>
                <a:cs typeface="Calibri"/>
              </a:rPr>
              <a:t>  </a:t>
            </a:r>
            <a:r>
              <a:rPr sz="4100" spc="-40" dirty="0">
                <a:latin typeface="Calibri"/>
                <a:cs typeface="Calibri"/>
              </a:rPr>
              <a:t>budget-</a:t>
            </a:r>
            <a:r>
              <a:rPr sz="4100" dirty="0">
                <a:latin typeface="Calibri"/>
                <a:cs typeface="Calibri"/>
              </a:rPr>
              <a:t>sensitive.</a:t>
            </a:r>
            <a:r>
              <a:rPr sz="4100" spc="495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Franchises</a:t>
            </a:r>
            <a:r>
              <a:rPr sz="4100" spc="495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focused</a:t>
            </a:r>
            <a:r>
              <a:rPr sz="4100" spc="495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more</a:t>
            </a:r>
            <a:r>
              <a:rPr sz="4100" spc="495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on</a:t>
            </a:r>
            <a:r>
              <a:rPr sz="4100" spc="490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foreign</a:t>
            </a:r>
            <a:r>
              <a:rPr sz="4100" spc="495" dirty="0">
                <a:latin typeface="Calibri"/>
                <a:cs typeface="Calibri"/>
              </a:rPr>
              <a:t>  </a:t>
            </a:r>
            <a:r>
              <a:rPr sz="4100" spc="-10" dirty="0">
                <a:latin typeface="Calibri"/>
                <a:cs typeface="Calibri"/>
              </a:rPr>
              <a:t>players, </a:t>
            </a:r>
            <a:r>
              <a:rPr sz="4100" dirty="0">
                <a:latin typeface="Calibri"/>
                <a:cs typeface="Calibri"/>
              </a:rPr>
              <a:t>especially</a:t>
            </a:r>
            <a:r>
              <a:rPr sz="4100" spc="484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Australians,</a:t>
            </a:r>
            <a:r>
              <a:rPr sz="4100" spc="484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while</a:t>
            </a:r>
            <a:r>
              <a:rPr sz="4100" spc="484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purchases</a:t>
            </a:r>
            <a:r>
              <a:rPr sz="4100" spc="484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of</a:t>
            </a:r>
            <a:r>
              <a:rPr sz="4100" spc="484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Indian</a:t>
            </a:r>
            <a:r>
              <a:rPr sz="4100" spc="484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talent</a:t>
            </a:r>
            <a:r>
              <a:rPr sz="4100" spc="484" dirty="0">
                <a:latin typeface="Calibri"/>
                <a:cs typeface="Calibri"/>
              </a:rPr>
              <a:t>  </a:t>
            </a:r>
            <a:r>
              <a:rPr sz="4100" spc="-10" dirty="0">
                <a:latin typeface="Calibri"/>
                <a:cs typeface="Calibri"/>
              </a:rPr>
              <a:t>decreased, </a:t>
            </a:r>
            <a:r>
              <a:rPr sz="4100" dirty="0">
                <a:latin typeface="Calibri"/>
                <a:cs typeface="Calibri"/>
              </a:rPr>
              <a:t>highlighting</a:t>
            </a:r>
            <a:r>
              <a:rPr sz="4100" spc="225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the</a:t>
            </a:r>
            <a:r>
              <a:rPr sz="4100" spc="225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need</a:t>
            </a:r>
            <a:r>
              <a:rPr sz="4100" spc="225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to</a:t>
            </a:r>
            <a:r>
              <a:rPr sz="4100" spc="225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encourage</a:t>
            </a:r>
            <a:r>
              <a:rPr sz="4100" spc="225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domestic</a:t>
            </a:r>
            <a:r>
              <a:rPr sz="4100" spc="225" dirty="0">
                <a:latin typeface="Calibri"/>
                <a:cs typeface="Calibri"/>
              </a:rPr>
              <a:t>  </a:t>
            </a:r>
            <a:r>
              <a:rPr sz="4100" dirty="0">
                <a:latin typeface="Calibri"/>
                <a:cs typeface="Calibri"/>
              </a:rPr>
              <a:t>players.</a:t>
            </a:r>
            <a:r>
              <a:rPr sz="4100" spc="225" dirty="0">
                <a:latin typeface="Calibri"/>
                <a:cs typeface="Calibri"/>
              </a:rPr>
              <a:t>  </a:t>
            </a:r>
            <a:r>
              <a:rPr sz="4100" spc="-10" dirty="0">
                <a:latin typeface="Calibri"/>
                <a:cs typeface="Calibri"/>
              </a:rPr>
              <a:t>Multi-talented</a:t>
            </a:r>
            <a:endParaRPr sz="4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54573" y="9498231"/>
            <a:ext cx="42862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2755" y="4917344"/>
            <a:ext cx="359664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91055" algn="l"/>
              </a:tabLst>
            </a:pPr>
            <a:r>
              <a:rPr sz="4100" spc="-10" dirty="0">
                <a:latin typeface="Calibri"/>
                <a:cs typeface="Calibri"/>
              </a:rPr>
              <a:t>players</a:t>
            </a:r>
            <a:r>
              <a:rPr sz="4100" dirty="0">
                <a:latin typeface="Calibri"/>
                <a:cs typeface="Calibri"/>
              </a:rPr>
              <a:t>	</a:t>
            </a:r>
            <a:r>
              <a:rPr sz="4100" spc="-10" dirty="0">
                <a:latin typeface="Calibri"/>
                <a:cs typeface="Calibri"/>
              </a:rPr>
              <a:t>remain</a:t>
            </a:r>
            <a:endParaRPr sz="4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2755" y="5536469"/>
            <a:ext cx="341884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0" dirty="0">
                <a:latin typeface="Calibri"/>
                <a:cs typeface="Calibri"/>
              </a:rPr>
              <a:t>batting/bowling</a:t>
            </a:r>
            <a:endParaRPr sz="4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5997" y="4917344"/>
            <a:ext cx="11934825" cy="126936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indent="379095">
              <a:lnSpc>
                <a:spcPts val="4870"/>
              </a:lnSpc>
              <a:spcBef>
                <a:spcPts val="254"/>
              </a:spcBef>
              <a:tabLst>
                <a:tab pos="2240280" algn="l"/>
                <a:tab pos="2376170" algn="l"/>
                <a:tab pos="3543300" algn="l"/>
                <a:tab pos="4354195" algn="l"/>
                <a:tab pos="5384800" algn="l"/>
                <a:tab pos="5732780" algn="l"/>
                <a:tab pos="6562090" algn="l"/>
                <a:tab pos="8728075" algn="l"/>
                <a:tab pos="9050020" algn="l"/>
                <a:tab pos="10227945" algn="l"/>
                <a:tab pos="11203305" algn="l"/>
              </a:tabLst>
            </a:pPr>
            <a:r>
              <a:rPr sz="4100" spc="-10" dirty="0">
                <a:latin typeface="Calibri"/>
                <a:cs typeface="Calibri"/>
              </a:rPr>
              <a:t>highly</a:t>
            </a:r>
            <a:r>
              <a:rPr sz="4100" dirty="0">
                <a:latin typeface="Calibri"/>
                <a:cs typeface="Calibri"/>
              </a:rPr>
              <a:t>	</a:t>
            </a:r>
            <a:r>
              <a:rPr sz="4100" spc="-10" dirty="0">
                <a:latin typeface="Calibri"/>
                <a:cs typeface="Calibri"/>
              </a:rPr>
              <a:t>valued,</a:t>
            </a:r>
            <a:r>
              <a:rPr sz="4100" dirty="0">
                <a:latin typeface="Calibri"/>
                <a:cs typeface="Calibri"/>
              </a:rPr>
              <a:t>	</a:t>
            </a:r>
            <a:r>
              <a:rPr sz="4100" spc="-25" dirty="0">
                <a:latin typeface="Calibri"/>
                <a:cs typeface="Calibri"/>
              </a:rPr>
              <a:t>and</a:t>
            </a:r>
            <a:r>
              <a:rPr sz="4100" dirty="0">
                <a:latin typeface="Calibri"/>
                <a:cs typeface="Calibri"/>
              </a:rPr>
              <a:t>		</a:t>
            </a:r>
            <a:r>
              <a:rPr sz="4100" spc="-10" dirty="0">
                <a:latin typeface="Calibri"/>
                <a:cs typeface="Calibri"/>
              </a:rPr>
              <a:t>performance</a:t>
            </a:r>
            <a:r>
              <a:rPr sz="4100" dirty="0">
                <a:latin typeface="Calibri"/>
                <a:cs typeface="Calibri"/>
              </a:rPr>
              <a:t>		</a:t>
            </a:r>
            <a:r>
              <a:rPr sz="4100" spc="-10" dirty="0">
                <a:latin typeface="Calibri"/>
                <a:cs typeface="Calibri"/>
              </a:rPr>
              <a:t>metrics</a:t>
            </a:r>
            <a:r>
              <a:rPr sz="4100" dirty="0">
                <a:latin typeface="Calibri"/>
                <a:cs typeface="Calibri"/>
              </a:rPr>
              <a:t>	</a:t>
            </a:r>
            <a:r>
              <a:rPr sz="4100" spc="-45" dirty="0">
                <a:latin typeface="Calibri"/>
                <a:cs typeface="Calibri"/>
              </a:rPr>
              <a:t>like </a:t>
            </a:r>
            <a:r>
              <a:rPr sz="4100" spc="-10" dirty="0">
                <a:latin typeface="Calibri"/>
                <a:cs typeface="Calibri"/>
              </a:rPr>
              <a:t>averages,</a:t>
            </a:r>
            <a:r>
              <a:rPr sz="4100" dirty="0">
                <a:latin typeface="Calibri"/>
                <a:cs typeface="Calibri"/>
              </a:rPr>
              <a:t>		</a:t>
            </a:r>
            <a:r>
              <a:rPr sz="4100" spc="-25" dirty="0">
                <a:latin typeface="Calibri"/>
                <a:cs typeface="Calibri"/>
              </a:rPr>
              <a:t>40+</a:t>
            </a:r>
            <a:r>
              <a:rPr sz="4100" dirty="0">
                <a:latin typeface="Calibri"/>
                <a:cs typeface="Calibri"/>
              </a:rPr>
              <a:t>	</a:t>
            </a:r>
            <a:r>
              <a:rPr sz="4100" spc="-10" dirty="0">
                <a:latin typeface="Calibri"/>
                <a:cs typeface="Calibri"/>
              </a:rPr>
              <a:t>scores,</a:t>
            </a:r>
            <a:r>
              <a:rPr sz="4100" dirty="0">
                <a:latin typeface="Calibri"/>
                <a:cs typeface="Calibri"/>
              </a:rPr>
              <a:t>	</a:t>
            </a:r>
            <a:r>
              <a:rPr sz="4100" spc="-25" dirty="0">
                <a:latin typeface="Calibri"/>
                <a:cs typeface="Calibri"/>
              </a:rPr>
              <a:t>and</a:t>
            </a:r>
            <a:r>
              <a:rPr sz="4100" dirty="0">
                <a:latin typeface="Calibri"/>
                <a:cs typeface="Calibri"/>
              </a:rPr>
              <a:t>	</a:t>
            </a:r>
            <a:r>
              <a:rPr sz="4100" spc="-10" dirty="0">
                <a:latin typeface="Calibri"/>
                <a:cs typeface="Calibri"/>
              </a:rPr>
              <a:t>3-wicket</a:t>
            </a:r>
            <a:r>
              <a:rPr sz="4100" dirty="0">
                <a:latin typeface="Calibri"/>
                <a:cs typeface="Calibri"/>
              </a:rPr>
              <a:t>	</a:t>
            </a:r>
            <a:r>
              <a:rPr sz="4100" spc="-10" dirty="0">
                <a:latin typeface="Calibri"/>
                <a:cs typeface="Calibri"/>
              </a:rPr>
              <a:t>hauls</a:t>
            </a:r>
            <a:r>
              <a:rPr sz="4100" dirty="0">
                <a:latin typeface="Calibri"/>
                <a:cs typeface="Calibri"/>
              </a:rPr>
              <a:t>	</a:t>
            </a:r>
            <a:r>
              <a:rPr sz="4100" spc="-25" dirty="0">
                <a:latin typeface="Calibri"/>
                <a:cs typeface="Calibri"/>
              </a:rPr>
              <a:t>strongly</a:t>
            </a:r>
            <a:endParaRPr sz="4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32755" y="6155594"/>
            <a:ext cx="15707994" cy="25076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just">
              <a:lnSpc>
                <a:spcPts val="4880"/>
              </a:lnSpc>
              <a:spcBef>
                <a:spcPts val="225"/>
              </a:spcBef>
            </a:pPr>
            <a:r>
              <a:rPr sz="4100" dirty="0">
                <a:latin typeface="Calibri"/>
                <a:cs typeface="Calibri"/>
              </a:rPr>
              <a:t>influence</a:t>
            </a:r>
            <a:r>
              <a:rPr sz="4100" spc="725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selection</a:t>
            </a:r>
            <a:r>
              <a:rPr sz="4100" spc="725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and</a:t>
            </a:r>
            <a:r>
              <a:rPr sz="4100" spc="725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final</a:t>
            </a:r>
            <a:r>
              <a:rPr sz="4100" spc="73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price.</a:t>
            </a:r>
            <a:r>
              <a:rPr sz="4100" spc="725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Retention</a:t>
            </a:r>
            <a:r>
              <a:rPr sz="4100" spc="725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of</a:t>
            </a:r>
            <a:r>
              <a:rPr sz="4100" spc="73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experienced</a:t>
            </a:r>
            <a:r>
              <a:rPr sz="4100" spc="725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players</a:t>
            </a:r>
            <a:r>
              <a:rPr sz="4100" spc="725" dirty="0">
                <a:latin typeface="Calibri"/>
                <a:cs typeface="Calibri"/>
              </a:rPr>
              <a:t> </a:t>
            </a:r>
            <a:r>
              <a:rPr sz="4100" spc="-25" dirty="0">
                <a:latin typeface="Calibri"/>
                <a:cs typeface="Calibri"/>
              </a:rPr>
              <a:t>is </a:t>
            </a:r>
            <a:r>
              <a:rPr sz="4100" dirty="0">
                <a:latin typeface="Calibri"/>
                <a:cs typeface="Calibri"/>
              </a:rPr>
              <a:t>higher</a:t>
            </a:r>
            <a:r>
              <a:rPr sz="4100" spc="125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than</a:t>
            </a:r>
            <a:r>
              <a:rPr sz="4100" spc="13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unsold</a:t>
            </a:r>
            <a:r>
              <a:rPr sz="4100" spc="13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or</a:t>
            </a:r>
            <a:r>
              <a:rPr sz="4100" spc="13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newly</a:t>
            </a:r>
            <a:r>
              <a:rPr sz="4100" spc="13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sold</a:t>
            </a:r>
            <a:r>
              <a:rPr sz="4100" spc="13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ones,</a:t>
            </a:r>
            <a:r>
              <a:rPr sz="4100" spc="13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reflecting</a:t>
            </a:r>
            <a:r>
              <a:rPr sz="4100" spc="13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a</a:t>
            </a:r>
            <a:r>
              <a:rPr sz="4100" spc="13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preference</a:t>
            </a:r>
            <a:r>
              <a:rPr sz="4100" spc="125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for</a:t>
            </a:r>
            <a:r>
              <a:rPr sz="4100" spc="130" dirty="0">
                <a:latin typeface="Calibri"/>
                <a:cs typeface="Calibri"/>
              </a:rPr>
              <a:t> </a:t>
            </a:r>
            <a:r>
              <a:rPr sz="4100" spc="-10" dirty="0">
                <a:latin typeface="Calibri"/>
                <a:cs typeface="Calibri"/>
              </a:rPr>
              <a:t>proven </a:t>
            </a:r>
            <a:r>
              <a:rPr sz="4100" dirty="0">
                <a:latin typeface="Calibri"/>
                <a:cs typeface="Calibri"/>
              </a:rPr>
              <a:t>performers.</a:t>
            </a:r>
            <a:r>
              <a:rPr sz="4100" spc="615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These</a:t>
            </a:r>
            <a:r>
              <a:rPr sz="4100" spc="62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insights</a:t>
            </a:r>
            <a:r>
              <a:rPr sz="4100" spc="62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can</a:t>
            </a:r>
            <a:r>
              <a:rPr sz="4100" spc="62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guide</a:t>
            </a:r>
            <a:r>
              <a:rPr sz="4100" spc="62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franchises</a:t>
            </a:r>
            <a:r>
              <a:rPr sz="4100" spc="62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in</a:t>
            </a:r>
            <a:r>
              <a:rPr sz="4100" spc="620" dirty="0">
                <a:latin typeface="Calibri"/>
                <a:cs typeface="Calibri"/>
              </a:rPr>
              <a:t> </a:t>
            </a:r>
            <a:r>
              <a:rPr sz="4100" spc="-10" dirty="0">
                <a:latin typeface="Calibri"/>
                <a:cs typeface="Calibri"/>
              </a:rPr>
              <a:t>decision-</a:t>
            </a:r>
            <a:r>
              <a:rPr sz="4100" dirty="0">
                <a:latin typeface="Calibri"/>
                <a:cs typeface="Calibri"/>
              </a:rPr>
              <a:t>making</a:t>
            </a:r>
            <a:r>
              <a:rPr sz="4100" spc="620" dirty="0">
                <a:latin typeface="Calibri"/>
                <a:cs typeface="Calibri"/>
              </a:rPr>
              <a:t> </a:t>
            </a:r>
            <a:r>
              <a:rPr sz="4100" spc="-25" dirty="0">
                <a:latin typeface="Calibri"/>
                <a:cs typeface="Calibri"/>
              </a:rPr>
              <a:t>and </a:t>
            </a:r>
            <a:r>
              <a:rPr sz="4100" dirty="0">
                <a:latin typeface="Calibri"/>
                <a:cs typeface="Calibri"/>
              </a:rPr>
              <a:t>help</a:t>
            </a:r>
            <a:r>
              <a:rPr sz="4100" spc="-114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players</a:t>
            </a:r>
            <a:r>
              <a:rPr sz="4100" spc="-11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improve</a:t>
            </a:r>
            <a:r>
              <a:rPr sz="4100" spc="-11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their</a:t>
            </a:r>
            <a:r>
              <a:rPr sz="4100" spc="-11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auction</a:t>
            </a:r>
            <a:r>
              <a:rPr sz="4100" spc="-110" dirty="0">
                <a:latin typeface="Calibri"/>
                <a:cs typeface="Calibri"/>
              </a:rPr>
              <a:t> </a:t>
            </a:r>
            <a:r>
              <a:rPr sz="4100" spc="-10" dirty="0">
                <a:latin typeface="Calibri"/>
                <a:cs typeface="Calibri"/>
              </a:rPr>
              <a:t>value.</a:t>
            </a:r>
            <a:endParaRPr sz="4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5946" y="0"/>
            <a:ext cx="17740630" cy="10121265"/>
            <a:chOff x="265946" y="0"/>
            <a:chExt cx="17740630" cy="101212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273" y="9111005"/>
              <a:ext cx="4838699" cy="10096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946" y="0"/>
              <a:ext cx="17735547" cy="91154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2175" y="2438388"/>
              <a:ext cx="7410449" cy="42386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3154573" y="9498231"/>
            <a:ext cx="42862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700" spc="-25" dirty="0">
                <a:latin typeface="Calibri"/>
                <a:cs typeface="Calibri"/>
              </a:rPr>
              <a:t>‹#›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1068</Words>
  <Application>Microsoft Office PowerPoint</Application>
  <PresentationFormat>Custom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Segoe UI Symbol</vt:lpstr>
      <vt:lpstr>Times New Roman</vt:lpstr>
      <vt:lpstr>Office Theme</vt:lpstr>
      <vt:lpstr>PowerPoint Presentation</vt:lpstr>
      <vt:lpstr>Business Problem</vt:lpstr>
      <vt:lpstr>Problem Statement</vt:lpstr>
      <vt:lpstr>Objectives</vt:lpstr>
      <vt:lpstr>Agenda</vt:lpstr>
      <vt:lpstr>Web Scarping</vt:lpstr>
      <vt:lpstr>Tools Used:</vt:lpstr>
      <vt:lpstr>Data Preprocessing &amp; Cleaning</vt:lpstr>
      <vt:lpstr>Dataset Overview The final cleaned dataset contains 521 rows and 16 columns, representing IPL auction player data collected from a relevant cricket auction website.</vt:lpstr>
      <vt:lpstr>Univariate Insights</vt:lpstr>
      <vt:lpstr>Bivariate Insights</vt:lpstr>
      <vt:lpstr>PowerPoint Presentation</vt:lpstr>
      <vt:lpstr>Multivariate Insights</vt:lpstr>
      <vt:lpstr>PowerPoint Presentation</vt:lpstr>
      <vt:lpstr>Hypothesis Testing</vt:lpstr>
      <vt:lpstr>Key Insights &amp; Recommendations :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PROJECT PPT SHREE.pptx</dc:title>
  <dc:creator>Saisharath Poddaturi</dc:creator>
  <cp:keywords>DAG95dVJXuM,BAFXz7fzpDU,0</cp:keywords>
  <cp:lastModifiedBy>anudeep kumar janaga</cp:lastModifiedBy>
  <cp:revision>1</cp:revision>
  <dcterms:created xsi:type="dcterms:W3CDTF">2026-05-21T16:42:19Z</dcterms:created>
  <dcterms:modified xsi:type="dcterms:W3CDTF">2026-05-21T16:43:19Z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2026-02-06T00:00:00Z</vt:filetime>
  </property>
  <property fmtid="{D5CDD505-2E9C-101B-9397-08002B2CF9AE}" pid="4" name="Creator">
    <vt:lpwstr>Canva</vt:lpwstr>
  </property>
  <property fmtid="{D5CDD505-2E9C-101B-9397-08002B2CF9AE}" pid="5" name="LastSaved">
    <vt:filetime>2026-05-21T00:00:00Z</vt:filetime>
  </property>
  <property fmtid="{D5CDD505-2E9C-101B-9397-08002B2CF9AE}" pid="6" name="Producer">
    <vt:lpwstr>Canva</vt:lpwstr>
  </property>
</Properties>
</file>